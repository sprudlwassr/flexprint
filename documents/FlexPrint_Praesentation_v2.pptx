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72" r:id="rId3"/>
    <p:sldId id="273" r:id="rId4"/>
    <p:sldId id="258" r:id="rId5"/>
    <p:sldId id="259" r:id="rId6"/>
    <p:sldId id="260" r:id="rId7"/>
    <p:sldId id="261" r:id="rId8"/>
    <p:sldId id="267" r:id="rId9"/>
    <p:sldId id="269" r:id="rId10"/>
    <p:sldId id="262"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441"/>
    <a:srgbClr val="15202B"/>
    <a:srgbClr val="FFFFFF"/>
    <a:srgbClr val="F5F4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142" autoAdjust="0"/>
  </p:normalViewPr>
  <p:slideViewPr>
    <p:cSldViewPr snapToGrid="0" snapToObjects="1">
      <p:cViewPr varScale="1">
        <p:scale>
          <a:sx n="94" d="100"/>
          <a:sy n="94" d="100"/>
        </p:scale>
        <p:origin x="232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5945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Guten</a:t>
            </a:r>
            <a:r>
              <a:rPr lang="en-US" dirty="0"/>
              <a:t> Tag… Die Diplomarbeit FlexPrint ist </a:t>
            </a:r>
            <a:r>
              <a:rPr lang="en-US" dirty="0" err="1"/>
              <a:t>ein</a:t>
            </a:r>
            <a:r>
              <a:rPr lang="en-US" dirty="0"/>
              <a:t> 3D-Drucker, der </a:t>
            </a:r>
            <a:r>
              <a:rPr lang="en-US" dirty="0" err="1"/>
              <a:t>der</a:t>
            </a:r>
            <a:r>
              <a:rPr lang="en-US" dirty="0"/>
              <a:t> Philosophie der </a:t>
            </a:r>
            <a:r>
              <a:rPr lang="en-US" dirty="0" err="1"/>
              <a:t>Modularität</a:t>
            </a:r>
            <a:r>
              <a:rPr lang="en-US" dirty="0"/>
              <a:t> </a:t>
            </a:r>
            <a:r>
              <a:rPr lang="en-US" dirty="0" err="1"/>
              <a:t>folgt</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izenplatzhalter 2"/>
          <p:cNvSpPr>
            <a:spLocks noGrp="1"/>
          </p:cNvSpPr>
          <p:nvPr>
            <p:ph type="body" idx="1"/>
          </p:nvPr>
        </p:nvSpPr>
        <p:spPr>
          <a:xfrm>
            <a:off x="685800" y="5867400"/>
            <a:ext cx="5486400" cy="4800600"/>
          </a:xfrm>
          <a:prstGeom prst="rect">
            <a:avLst/>
          </a:prstGeom>
        </p:spPr>
        <p:txBody>
          <a:bodyPr/>
          <a:lstStyle/>
          <a:p>
            <a:pPr rtl="0"/>
            <a:r>
              <a:rPr lang="de-DE" dirty="0"/>
              <a:t>Der G-Code kommt vom Slicer auf den Raspberry Pi. Der Pi plant die Bahnen, die Echtzeitausführung übernimmt der STM32 auf meinem Mainboard, diese Aufteilung gibt Klipper vor.</a:t>
            </a:r>
          </a:p>
          <a:p>
            <a:pPr rtl="0"/>
            <a:r>
              <a:rPr lang="de-DE" dirty="0"/>
              <a:t>Von dort gehen drei Zweige weg: über einen einzigen UART-Bus zu den acht Treiberplatinen und den Motoren, über MOSFETs zu den Heizlasten mit 280 Watt am Bett, und über zwei PWM-Kanäle zu den Lüftern.</a:t>
            </a:r>
          </a:p>
          <a:p>
            <a:pPr rtl="0"/>
            <a:r>
              <a:rPr lang="de-DE" dirty="0"/>
              <a:t>Versorgt wird alles aus einem 24-Volt-Netzteil, die 5 und 3,3 Volt für die Logik entstehen auf dem Board.</a:t>
            </a:r>
          </a:p>
          <a:p>
            <a:pPr rtl="0"/>
            <a:r>
              <a:rPr lang="de-DE" dirty="0"/>
              <a:t>Zurück kommen Temperaturen, Endschalter und die Z-Sonde, damit schließt sich der Regelkreis im STM32.</a:t>
            </a:r>
          </a:p>
          <a:p>
            <a:pPr rtl="0"/>
            <a:r>
              <a:rPr lang="de-DE" dirty="0"/>
              <a:t>Orange umrandet sind Mainboard und Treiberplatinen. Die habe ich entwickelt, darum geht es jetzt.</a:t>
            </a:r>
          </a:p>
        </p:txBody>
      </p:sp>
    </p:spTree>
    <p:extLst>
      <p:ext uri="{BB962C8B-B14F-4D97-AF65-F5344CB8AC3E}">
        <p14:creationId xmlns:p14="http://schemas.microsoft.com/office/powerpoint/2010/main" val="2527467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Anforderung war auf drei Themenbereiche aufgeteilt. Der </a:t>
            </a:r>
            <a:r>
              <a:rPr lang="en-US" dirty="0" err="1"/>
              <a:t>Bereich</a:t>
            </a:r>
            <a:r>
              <a:rPr lang="en-US" dirty="0"/>
              <a:t> Software: Ansteuerung und Weboberflaeche. Der </a:t>
            </a:r>
            <a:r>
              <a:rPr lang="en-US" dirty="0" err="1"/>
              <a:t>Bereich</a:t>
            </a:r>
            <a:r>
              <a:rPr lang="en-US" dirty="0"/>
              <a:t> </a:t>
            </a:r>
            <a:r>
              <a:rPr lang="en-US" dirty="0" err="1"/>
              <a:t>Energieversorgung</a:t>
            </a:r>
            <a:r>
              <a:rPr lang="en-US" dirty="0"/>
              <a:t>: Netzteil und Mitarbeit an der Mechanik. Und der Bereich Elektronik, mein Thema: Mainboard und Treiberplatinen. Dazu kam die Projektleitung. Eine Anmerkung zum Verlauf: der Aufbau des Druckers und die Inbetriebnahme sind ebenfalls in meinem Bereich </a:t>
            </a:r>
            <a:r>
              <a:rPr lang="en-US" dirty="0" err="1"/>
              <a:t>angefallen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de-DE" dirty="0"/>
              <a:t>oben die Versorgung: 24 Volt Motorspannung VM und 3,3 Volt Logikspannung VIO, getrennt entkoppelt mit Stützkondensatoren direkt am Treiber.</a:t>
            </a:r>
          </a:p>
          <a:p>
            <a:pPr rtl="0"/>
            <a:r>
              <a:rPr lang="de-DE" dirty="0"/>
              <a:t>Die Schnittstelle zum Mikrocontroller ist UART auf einer einzigen Leitung (</a:t>
            </a:r>
            <a:r>
              <a:rPr lang="de-DE" dirty="0" err="1"/>
              <a:t>OneWire</a:t>
            </a:r>
            <a:r>
              <a:rPr lang="de-DE" dirty="0"/>
              <a:t> UART). Welcher der Treiber angesprochen wird, entscheidet eine Adresse, die über die Pins MS1 und MS2 gesteckt wird. Damit hängen vier Treiber an einem Bus, und ich brauche nur zwei Pins am Mikrocontroller statt vier Jumper je Achse.</a:t>
            </a:r>
          </a:p>
          <a:p>
            <a:pPr rtl="0"/>
            <a:r>
              <a:rPr lang="de-DE" dirty="0"/>
              <a:t>Der dritte Punkt ist ein interessanter. Der Jumper JP1 trennt die UART-Leitung auf. Steckt er, läuft die Platine im UART-Modus mit voller Konfigurierbarkeit. Steckt er nicht, arbeitet der Treiber klassisch über STEP und DIR, so wie jeder gewöhnliche Schrittmotortreiber. Die Platine ist also nicht davon abhängig, dass die Firmware UART unterstützt, sie funktioniert auch an einer fremden Steuerung. Den Motorstrom stellt man dann über das Potentiometer und den Messpunkt am VREF-Eingang ein, beides ist auf der Platine vorgesehen.</a:t>
            </a:r>
          </a:p>
          <a:p>
            <a:pPr rtl="0"/>
            <a:r>
              <a:rPr lang="de-DE" dirty="0"/>
              <a:t>Und zuletzt die Steckbarkeit: Steuersignale, Motor samt Versorgung und die Diagnosesignale DIAG und INDEX liegen auf drei getrennten Steckern. Alle acht Steckplätze auf dem Mainboard sind identisch belegt, ein defekter Treiber wird also einzeln getauscht.</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de-DE" dirty="0"/>
              <a:t>Die Platine misst 15,5 mal 20,4 Millimeter. Auf dieser Fläche sind vier Lagen nötig: außen die Signalführung, innen durchgehend Power und Masse. Dadurch bleiben Leistungs- und Signalpfade getrennt, und die beiden Innenlagen liegen flächig übereinander, was die Versorgung des Treibers niederinduktiv anbindet. Das ist bei den steilen Schaltflanken eines Schrittmotortreibers nicht nebensächlich.</a:t>
            </a:r>
          </a:p>
          <a:p>
            <a:pPr rtl="0"/>
            <a:r>
              <a:rPr lang="de-DE" dirty="0"/>
              <a:t>Der zweite Punkt ist die </a:t>
            </a:r>
            <a:r>
              <a:rPr lang="de-DE" dirty="0" err="1"/>
              <a:t>Entwärmung</a:t>
            </a:r>
            <a:r>
              <a:rPr lang="de-DE" dirty="0"/>
              <a:t>. Der TMC2209 gibt seine Verlustleistung nach unten ab, da es wenig bis keinen Platz gibt eine große Massefläche direkt unter dem Chip bereitzustellen, liegt unter dem Chip ein Feld aus Vias, das die Wärme in die Innenlagen leitet. Dort verteilt sie sich auf die gesamte Fläche.</a:t>
            </a:r>
          </a:p>
          <a:p>
            <a:pPr rtl="0"/>
            <a:r>
              <a:rPr lang="de-DE" dirty="0"/>
              <a:t>Und was ich beim nächsten Mal anders machen würde: eine freie Kupferfläche auf der Rückseite. Das Via-Feld allein funktioniert, aber es ist knapp bemessen. Mit einer zusätzlichen Fläche gäbe es mehr Reserve, beziehungsweise einen besseren Wärmeleitwert für die Kühlkörper.</a:t>
            </a:r>
          </a:p>
          <a:p>
            <a:pPr rtl="0"/>
            <a:r>
              <a:rPr lang="de-DE" dirty="0"/>
              <a:t>Rechts sehen Sie das Ergebnis. Acht dieser Module stecken nebeneinander auf dem Mainboard, und damit komme ich zur zweiten Platine.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zum Mainboard. Hier </a:t>
            </a:r>
            <a:r>
              <a:rPr lang="en-US" dirty="0" err="1"/>
              <a:t>ein</a:t>
            </a:r>
            <a:r>
              <a:rPr lang="en-US" dirty="0"/>
              <a:t> Kleiner </a:t>
            </a:r>
            <a:r>
              <a:rPr lang="en-US" dirty="0" err="1"/>
              <a:t>Überblick</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1D84B-D267-1F8D-A635-AAC076566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22EB2-7B57-9B3D-7538-8E9D7C74B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A93DA-0E39-A297-282D-8DB2BC2933BC}"/>
              </a:ext>
            </a:extLst>
          </p:cNvPr>
          <p:cNvSpPr>
            <a:spLocks noGrp="1"/>
          </p:cNvSpPr>
          <p:nvPr>
            <p:ph type="body" idx="1"/>
          </p:nvPr>
        </p:nvSpPr>
        <p:spPr/>
        <p:txBody>
          <a:bodyPr/>
          <a:lstStyle/>
          <a:p>
            <a:r>
              <a:rPr lang="en-US" dirty="0"/>
              <a:t>Der Ausschnitt zeigt die Spannungsversorgung. Eingang sind 24 Volt aus dem Netzteil. Daraus macht </a:t>
            </a:r>
            <a:r>
              <a:rPr lang="en-US" dirty="0" err="1"/>
              <a:t>ein</a:t>
            </a:r>
            <a:r>
              <a:rPr lang="en-US" dirty="0"/>
              <a:t> </a:t>
            </a:r>
            <a:r>
              <a:rPr lang="en-US" dirty="0" err="1"/>
              <a:t>Abwärtsregler</a:t>
            </a:r>
            <a:r>
              <a:rPr lang="en-US" dirty="0"/>
              <a:t> 5 Volt, </a:t>
            </a:r>
            <a:r>
              <a:rPr lang="en-US" dirty="0" err="1"/>
              <a:t>daraus</a:t>
            </a:r>
            <a:r>
              <a:rPr lang="en-US" dirty="0"/>
              <a:t> </a:t>
            </a:r>
            <a:r>
              <a:rPr lang="en-US" dirty="0" err="1"/>
              <a:t>entstehen</a:t>
            </a:r>
            <a:r>
              <a:rPr lang="en-US" dirty="0"/>
              <a:t> </a:t>
            </a:r>
            <a:r>
              <a:rPr lang="en-US" dirty="0" err="1"/>
              <a:t>nochmal</a:t>
            </a:r>
            <a:r>
              <a:rPr lang="en-US" dirty="0"/>
              <a:t> 3,3 Volt für die </a:t>
            </a:r>
            <a:r>
              <a:rPr lang="en-US" dirty="0" err="1"/>
              <a:t>Logik</a:t>
            </a:r>
            <a:r>
              <a:rPr lang="en-US" dirty="0"/>
              <a:t>. Der </a:t>
            </a:r>
            <a:r>
              <a:rPr lang="en-US" dirty="0" err="1"/>
              <a:t>wichtigste</a:t>
            </a:r>
            <a:r>
              <a:rPr lang="en-US" dirty="0"/>
              <a:t> Teil auf dieser Folie: ein Spannungsteiler am Enable-Eingang des 5-Volt-Reglers. Er gibt die Logikspannung erst frei, wenn die Motorspannung rund 12,6 Volt erreicht hat. Der Grund </a:t>
            </a:r>
            <a:r>
              <a:rPr lang="en-US" dirty="0" err="1"/>
              <a:t>dafür</a:t>
            </a:r>
            <a:r>
              <a:rPr lang="en-US" dirty="0"/>
              <a:t> </a:t>
            </a:r>
            <a:r>
              <a:rPr lang="en-US" dirty="0" err="1"/>
              <a:t>wird</a:t>
            </a:r>
            <a:r>
              <a:rPr lang="en-US" dirty="0"/>
              <a:t> </a:t>
            </a:r>
            <a:r>
              <a:rPr lang="en-US" dirty="0" err="1"/>
              <a:t>erklärt</a:t>
            </a:r>
            <a:r>
              <a:rPr lang="en-US" dirty="0"/>
              <a:t>.</a:t>
            </a:r>
            <a:br>
              <a:rPr lang="en-US" dirty="0"/>
            </a:br>
            <a:r>
              <a:rPr lang="en-US" dirty="0"/>
              <a:t>Hier </a:t>
            </a:r>
            <a:r>
              <a:rPr lang="en-US" dirty="0" err="1"/>
              <a:t>sieht</a:t>
            </a:r>
            <a:r>
              <a:rPr lang="en-US" dirty="0"/>
              <a:t> man </a:t>
            </a:r>
            <a:r>
              <a:rPr lang="en-US" dirty="0" err="1"/>
              <a:t>auch</a:t>
            </a:r>
            <a:r>
              <a:rPr lang="en-US" dirty="0"/>
              <a:t> </a:t>
            </a:r>
            <a:r>
              <a:rPr lang="en-US" dirty="0" err="1"/>
              <a:t>noch</a:t>
            </a:r>
            <a:r>
              <a:rPr lang="en-US" dirty="0"/>
              <a:t> den Anschluss von den </a:t>
            </a:r>
            <a:r>
              <a:rPr lang="en-US" dirty="0" err="1"/>
              <a:t>Treiberplatinen</a:t>
            </a:r>
            <a:r>
              <a:rPr lang="en-US" dirty="0"/>
              <a:t> </a:t>
            </a:r>
            <a:r>
              <a:rPr lang="en-US" dirty="0" err="1"/>
              <a:t>mit</a:t>
            </a:r>
            <a:r>
              <a:rPr lang="en-US" dirty="0"/>
              <a:t> den </a:t>
            </a:r>
            <a:r>
              <a:rPr lang="en-US" dirty="0" err="1"/>
              <a:t>Stützkondensatoren</a:t>
            </a:r>
            <a:r>
              <a:rPr lang="en-US" dirty="0"/>
              <a:t> für VIO und VM.</a:t>
            </a:r>
          </a:p>
        </p:txBody>
      </p:sp>
      <p:sp>
        <p:nvSpPr>
          <p:cNvPr id="4" name="Slide Number Placeholder 3">
            <a:extLst>
              <a:ext uri="{FF2B5EF4-FFF2-40B4-BE49-F238E27FC236}">
                <a16:creationId xmlns:a16="http://schemas.microsoft.com/office/drawing/2014/main" id="{CD035F2C-C009-F469-AE8A-FC9C3ECE264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98385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D8168-66AE-5CB6-714A-6045C4567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705E6-D380-3FCE-D0F5-66DEA3677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4D90D-B83A-8228-5403-A368B911C3DB}"/>
              </a:ext>
            </a:extLst>
          </p:cNvPr>
          <p:cNvSpPr>
            <a:spLocks noGrp="1"/>
          </p:cNvSpPr>
          <p:nvPr>
            <p:ph type="body" idx="1"/>
          </p:nvPr>
        </p:nvSpPr>
        <p:spPr/>
        <p:txBody>
          <a:bodyPr/>
          <a:lstStyle/>
          <a:p>
            <a:r>
              <a:rPr lang="de-DE" dirty="0"/>
              <a:t>Der Leistungsteil schaltet vier Kreise: das Druckbett, zwei </a:t>
            </a:r>
            <a:r>
              <a:rPr lang="de-DE" dirty="0" err="1"/>
              <a:t>Hotends</a:t>
            </a:r>
            <a:r>
              <a:rPr lang="de-DE" dirty="0"/>
              <a:t> und einen allgemeinen Schaltausgang. Alle vier arbeiten als Low-Side-Schaltung, der MOSFET sitzt also im Massepfad. Angesteuert werden die Gates nicht direkt vom Mikrocontroller, sondern über Gate-Treiber mit 12 Volt. Der Grund ist </a:t>
            </a:r>
            <a:r>
              <a:rPr lang="de-DE" dirty="0" err="1"/>
              <a:t>Rdson</a:t>
            </a:r>
            <a:r>
              <a:rPr lang="de-DE" dirty="0"/>
              <a:t>, um das </a:t>
            </a:r>
            <a:r>
              <a:rPr lang="de-DE" dirty="0" err="1"/>
              <a:t>niedrigst</a:t>
            </a:r>
            <a:r>
              <a:rPr lang="de-DE" dirty="0"/>
              <a:t> mögliche </a:t>
            </a:r>
            <a:r>
              <a:rPr lang="de-DE" dirty="0" err="1"/>
              <a:t>Rdson</a:t>
            </a:r>
            <a:r>
              <a:rPr lang="de-DE" dirty="0"/>
              <a:t> zu </a:t>
            </a:r>
            <a:r>
              <a:rPr lang="de-DE" dirty="0" err="1"/>
              <a:t>erziehlen</a:t>
            </a:r>
            <a:r>
              <a:rPr lang="de-DE" dirty="0"/>
              <a:t> reicht der 3.3V Logikpegel nicht aus. Beim Bett fließen rund 12 Ampere, und bei 5,2 Milliohm Einschaltwiderstand setzt der Transistor dabei unter einem Watt um. Jeder Kreis hat eine eigene Sicherung, dimensioniert auf den Laststrom plus 25 Prozent, 15 Ampere beim Bett, 3 Ampere bei den </a:t>
            </a:r>
            <a:r>
              <a:rPr lang="de-DE" dirty="0" err="1"/>
              <a:t>Hotends</a:t>
            </a:r>
            <a:r>
              <a:rPr lang="de-DE" dirty="0"/>
              <a:t>.</a:t>
            </a:r>
            <a:endParaRPr lang="en-US" dirty="0"/>
          </a:p>
        </p:txBody>
      </p:sp>
      <p:sp>
        <p:nvSpPr>
          <p:cNvPr id="4" name="Slide Number Placeholder 3">
            <a:extLst>
              <a:ext uri="{FF2B5EF4-FFF2-40B4-BE49-F238E27FC236}">
                <a16:creationId xmlns:a16="http://schemas.microsoft.com/office/drawing/2014/main" id="{DA0543F2-8C13-E49A-773B-B0C265CA0D4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5096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Dasselbe fuer das Mainboard: links das Layout, rechts das bestueckte Board mit aufgesteckten Treibern. Der kritische Punkt im Layout ist die 24-Volt-Schiene. Ueber sie laufen alle acht Treiber und die Bettheizung. Sie </a:t>
            </a:r>
            <a:r>
              <a:rPr lang="en-US" dirty="0" err="1"/>
              <a:t>ist</a:t>
            </a:r>
            <a:r>
              <a:rPr lang="en-US" dirty="0"/>
              <a:t> am </a:t>
            </a:r>
            <a:r>
              <a:rPr lang="en-US" dirty="0" err="1"/>
              <a:t>anfang</a:t>
            </a:r>
            <a:r>
              <a:rPr lang="en-US" dirty="0"/>
              <a:t> von der Klemme </a:t>
            </a:r>
            <a:r>
              <a:rPr lang="en-US" dirty="0" err="1"/>
              <a:t>aus</a:t>
            </a:r>
            <a:r>
              <a:rPr lang="en-US" dirty="0"/>
              <a:t> 4 Millimeter breit, am Ende, bei den letzten vier Treibern, nur noch 3 Millimeter. In der ersten Version war sie deutlich zu schmal. Ich habe sie dann nachgerechnet, nach IPC-2221 für </a:t>
            </a:r>
            <a:r>
              <a:rPr lang="en-US" dirty="0" err="1"/>
              <a:t>Aussenlagen</a:t>
            </a:r>
            <a:r>
              <a:rPr lang="en-US" dirty="0"/>
              <a:t>. Bei 35 Mikrometer Kupfer traegt die 4-Millimeter-Schiene 10.6 Ampere </a:t>
            </a:r>
            <a:r>
              <a:rPr lang="en-US" dirty="0" err="1"/>
              <a:t>bei</a:t>
            </a:r>
            <a:r>
              <a:rPr lang="en-US" dirty="0"/>
              <a:t> 30 Kelvin Erwaermung und 12 Ampere </a:t>
            </a:r>
            <a:r>
              <a:rPr lang="en-US" dirty="0" err="1"/>
              <a:t>bei</a:t>
            </a:r>
            <a:r>
              <a:rPr lang="en-US" dirty="0"/>
              <a:t> 40 Kelvin. Real </a:t>
            </a:r>
            <a:r>
              <a:rPr lang="en-US" dirty="0" err="1"/>
              <a:t>gemessen</a:t>
            </a:r>
            <a:r>
              <a:rPr lang="en-US" dirty="0"/>
              <a:t> </a:t>
            </a:r>
            <a:r>
              <a:rPr lang="en-US" dirty="0" err="1"/>
              <a:t>wurde</a:t>
            </a:r>
            <a:r>
              <a:rPr lang="en-US" dirty="0"/>
              <a:t> ca 30° </a:t>
            </a:r>
            <a:r>
              <a:rPr lang="en-US" dirty="0" err="1"/>
              <a:t>erhöhung</a:t>
            </a:r>
            <a:r>
              <a:rPr lang="en-US" dirty="0"/>
              <a:t>, </a:t>
            </a:r>
            <a:r>
              <a:rPr lang="en-US" dirty="0" err="1"/>
              <a:t>zur</a:t>
            </a:r>
            <a:r>
              <a:rPr lang="en-US" dirty="0"/>
              <a:t> </a:t>
            </a:r>
            <a:r>
              <a:rPr lang="en-US" dirty="0" err="1"/>
              <a:t>Raumtemperatur</a:t>
            </a:r>
            <a:r>
              <a:rPr lang="en-US" dirty="0"/>
              <a:t>, auf der </a:t>
            </a:r>
            <a:r>
              <a:rPr lang="en-US" dirty="0" err="1"/>
              <a:t>Leiterbahn</a:t>
            </a:r>
            <a:r>
              <a:rPr lang="en-US" dirty="0"/>
              <a:t>. Die 3-Millimeter-Stelle 5,4 beziehungsweise 8,6 Ampere. Das genuegt, weil die Bettheizung im Regelbetrieb getastet arbeitet und nicht dauerhaft bei Volllast zieht. Was ich dazu sagen muss: die Rechnung kam nachtraeglich, nicht vorher. Beim naechsten Entwurf wuerde ich sie vor dem Layout </a:t>
            </a:r>
            <a:r>
              <a:rPr lang="en-US" dirty="0" err="1"/>
              <a:t>machen</a:t>
            </a:r>
            <a:r>
              <a:rPr lang="en-US" dirty="0"/>
              <a:t> und die Schiene gleich breiter oder mit 70 Mikrometer Kupfer </a:t>
            </a:r>
            <a:r>
              <a:rPr lang="en-US" dirty="0" err="1"/>
              <a:t>ausfuehren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zum Ergebnis. Die Tabelle greift die Anforderung vom Anfang wieder auf. Erfuellt sind: Treiber einzeln tauschbar — nicht theoretisch, ich habe zwei getauscht und das Board blieb unveraendert in Betrieb. Einstellungen im Betrieb aenderbar, belegt durch die Umstellung des Betriebsmodus. Steuerung erweiterbar mit acht Steckplaetzen, der zweite Extruder ist elektrisch vorgesehen. Das beheizte Druckbett laeuft inzwischen ueber einen eigenen MOSFET auf dem Mainboard. Und die Kalibriermessreihe ist abgeschlossen, die Werte stehen in der Konfiguration. Zwei Punkte sind nicht erledigt, und die nenne ich bewusst. Der erste ist ein reproduzierbarer Versatz von 0,35 Millimeter in den ersten Lagen. Reproduzierbar heisst: kein Schrittverlust, sondern ein systematischer Effekt. Schrauben, Riemenspannung und Slicer-Einstellungen sind ausgeschlossen; die Eingrenzung laeuft derzeit auf die Z-Fuehrung des Betts hinaus, die durch nachgeruestete Stahlstangen ueberbestimmt sein koennte. Das ist offen, und ich halte es fuer richtig, das so zu sagen, statt es zu verschweigen. Der zweite offene Punkt ist der zweite Werkzeugkopf: die Mechanik ist da, der Wechselvorgang ist noch nicht erprobt. Fuer eine naechste Revision ergeben sich konkrete Aenderungen: Verpolschutz am 24-Volt-Eingang, mehr PWM-Luefterkanaele, eine breitere 24-Volt-Schiene oder dickeres Kupfer, eine Kupferflaeche unter dem Treiber-IC und der Mikrocontroller direkt auf der Platine. Der interessanteste naechste Schritt waere ein CAN-Bus zum Werkzeugkopf — dieselbe Ueberlegung wie beim UART-Bus, nur eine Ebene hoeher: ein Kabel statt eines Buendels, und ein Werkzeugkopf, der sich selbst meldet.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5202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03436"/>
            <a:ext cx="10566400" cy="361454"/>
          </a:xfrm>
          <a:prstGeom prst="rect">
            <a:avLst/>
          </a:prstGeom>
          <a:noFill/>
          <a:ln/>
        </p:spPr>
        <p:txBody>
          <a:bodyPr wrap="square" lIns="0" tIns="0" rIns="0" bIns="0" rtlCol="0" anchor="t"/>
          <a:lstStyle>
            <a:lvl1pPr marL="0" indent="0" algn="l">
              <a:lnSpc>
                <a:spcPct val="115000"/>
              </a:lnSpc>
              <a:buNone/>
              <a:defRPr lang="en-US" sz="2588" dirty="0">
                <a:solidFill>
                  <a:srgbClr val="F7F8F6"/>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588" dirty="0"/>
          </a:p>
        </p:txBody>
      </p:sp>
      <p:sp>
        <p:nvSpPr>
          <p:cNvPr id="3" name="Text Placeholder 2"/>
          <p:cNvSpPr>
            <a:spLocks noGrp="1"/>
          </p:cNvSpPr>
          <p:nvPr>
            <p:ph type="body" idx="101"/>
          </p:nvPr>
        </p:nvSpPr>
        <p:spPr>
          <a:xfrm>
            <a:off x="812800" y="1569690"/>
            <a:ext cx="10566400" cy="4475510"/>
          </a:xfrm>
          <a:prstGeom prst="rect">
            <a:avLst/>
          </a:prstGeom>
          <a:noFill/>
          <a:ln/>
        </p:spPr>
        <p:txBody>
          <a:bodyPr wrap="square" lIns="0" tIns="0" rIns="0" bIns="0" rtlCol="0" anchor="t"/>
          <a:lstStyle>
            <a:lvl1pPr marL="0" indent="0" algn="l">
              <a:lnSpc>
                <a:spcPct val="140000"/>
              </a:lnSpc>
              <a:buNone/>
              <a:defRPr lang="en-US" sz="1600" dirty="0">
                <a:solidFill>
                  <a:srgbClr val="F7F8F6"/>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5202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03436"/>
            <a:ext cx="10566400" cy="361454"/>
          </a:xfrm>
          <a:prstGeom prst="rect">
            <a:avLst/>
          </a:prstGeom>
          <a:noFill/>
          <a:ln/>
        </p:spPr>
        <p:txBody>
          <a:bodyPr wrap="square" lIns="0" tIns="0" rIns="0" bIns="0" rtlCol="0" anchor="t"/>
          <a:lstStyle>
            <a:lvl1pPr marL="0" indent="0" algn="l">
              <a:lnSpc>
                <a:spcPct val="115000"/>
              </a:lnSpc>
              <a:buNone/>
              <a:defRPr lang="en-US" sz="2588" dirty="0">
                <a:solidFill>
                  <a:srgbClr val="F7F8F6"/>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588" dirty="0"/>
          </a:p>
        </p:txBody>
      </p:sp>
      <p:sp>
        <p:nvSpPr>
          <p:cNvPr id="3" name="Text Placeholder 2"/>
          <p:cNvSpPr>
            <a:spLocks noGrp="1"/>
          </p:cNvSpPr>
          <p:nvPr>
            <p:ph type="body" idx="101"/>
          </p:nvPr>
        </p:nvSpPr>
        <p:spPr>
          <a:xfrm>
            <a:off x="812800" y="1569690"/>
            <a:ext cx="10566400" cy="4475510"/>
          </a:xfrm>
          <a:prstGeom prst="rect">
            <a:avLst/>
          </a:prstGeom>
          <a:noFill/>
          <a:ln/>
        </p:spPr>
        <p:txBody>
          <a:bodyPr wrap="square" lIns="0" tIns="0" rIns="0" bIns="0" rtlCol="0" anchor="t"/>
          <a:lstStyle>
            <a:lvl1pPr marL="0" indent="0" algn="l">
              <a:lnSpc>
                <a:spcPct val="140000"/>
              </a:lnSpc>
              <a:buNone/>
              <a:defRPr lang="en-US" sz="1600" dirty="0">
                <a:solidFill>
                  <a:srgbClr val="F7F8F6"/>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1513284"/>
            <a:ext cx="5284724"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E07A3F"/>
                </a:solidFill>
                <a:latin typeface="JetBrains Mono" pitchFamily="49" charset="0"/>
                <a:ea typeface="JetBrains Mono" pitchFamily="49" charset="-122"/>
                <a:cs typeface="JetBrains Mono" pitchFamily="49" charset="-120"/>
              </a:rPr>
              <a:t>DIPLOMARBEIT 2026 · HTL RANKWEIL</a:t>
            </a:r>
            <a:endParaRPr lang="en-US" sz="1300" dirty="0"/>
          </a:p>
        </p:txBody>
      </p:sp>
      <p:sp>
        <p:nvSpPr>
          <p:cNvPr id="3" name="Text 1"/>
          <p:cNvSpPr>
            <a:spLocks noGrp="1"/>
          </p:cNvSpPr>
          <p:nvPr>
            <p:ph type="title"/>
          </p:nvPr>
        </p:nvSpPr>
        <p:spPr>
          <a:xfrm>
            <a:off x="812800" y="1998365"/>
            <a:ext cx="5284724" cy="141208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7F8F6"/>
                </a:solidFill>
                <a:latin typeface="IBM Plex Sans" pitchFamily="34" charset="0"/>
                <a:ea typeface="IBM Plex Sans" pitchFamily="34" charset="-122"/>
                <a:cs typeface="IBM Plex Sans" pitchFamily="34" charset="-120"/>
              </a:rPr>
              <a:t>FlexPrint</a:t>
            </a:r>
            <a:endParaRPr lang="en-US" sz="5200" dirty="0"/>
          </a:p>
          <a:p>
            <a:pPr marL="0" indent="0" algn="l">
              <a:lnSpc>
                <a:spcPts val="5460"/>
              </a:lnSpc>
              <a:buNone/>
            </a:pPr>
            <a:r>
              <a:rPr lang="en-US" sz="5200" b="1" i="0" dirty="0">
                <a:solidFill>
                  <a:srgbClr val="F7F8F6"/>
                </a:solidFill>
                <a:latin typeface="IBM Plex Sans" pitchFamily="34" charset="0"/>
                <a:ea typeface="IBM Plex Sans" pitchFamily="34" charset="-122"/>
                <a:cs typeface="IBM Plex Sans" pitchFamily="34" charset="-120"/>
              </a:rPr>
              <a:t>3D-Drucker</a:t>
            </a:r>
            <a:endParaRPr lang="en-US" sz="5200" dirty="0"/>
          </a:p>
        </p:txBody>
      </p:sp>
      <p:sp>
        <p:nvSpPr>
          <p:cNvPr id="4" name="Text 2"/>
          <p:cNvSpPr/>
          <p:nvPr/>
        </p:nvSpPr>
        <p:spPr>
          <a:xfrm>
            <a:off x="812800" y="3639046"/>
            <a:ext cx="5284724" cy="676870"/>
          </a:xfrm>
          <a:prstGeom prst="rect">
            <a:avLst/>
          </a:prstGeom>
          <a:noFill/>
          <a:ln/>
        </p:spPr>
        <p:txBody>
          <a:bodyPr wrap="square" lIns="0" tIns="0" rIns="0" bIns="0" rtlCol="0" anchor="t">
            <a:normAutofit/>
          </a:bodyPr>
          <a:lstStyle/>
          <a:p>
            <a:pPr marL="0" indent="0" algn="l">
              <a:lnSpc>
                <a:spcPts val="2565"/>
              </a:lnSpc>
              <a:buNone/>
            </a:pPr>
            <a:endParaRPr lang="en-US" sz="1900" dirty="0"/>
          </a:p>
        </p:txBody>
      </p:sp>
      <p:pic>
        <p:nvPicPr>
          <p:cNvPr id="5" name="Image 0" descr="line"/>
          <p:cNvPicPr>
            <a:picLocks noChangeAspect="1"/>
          </p:cNvPicPr>
          <p:nvPr/>
        </p:nvPicPr>
        <p:blipFill>
          <a:blip r:embed="rId3"/>
          <a:srcRect/>
          <a:stretch/>
        </p:blipFill>
        <p:spPr>
          <a:xfrm>
            <a:off x="812800" y="4544516"/>
            <a:ext cx="1270000" cy="12700"/>
          </a:xfrm>
          <a:prstGeom prst="rect">
            <a:avLst/>
          </a:prstGeom>
        </p:spPr>
      </p:pic>
      <p:sp>
        <p:nvSpPr>
          <p:cNvPr id="6" name="Text 3"/>
          <p:cNvSpPr/>
          <p:nvPr/>
        </p:nvSpPr>
        <p:spPr>
          <a:xfrm>
            <a:off x="812800" y="4811216"/>
            <a:ext cx="5284724"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F8F6"/>
                </a:solidFill>
                <a:latin typeface="IBM Plex Sans" pitchFamily="34" charset="0"/>
                <a:ea typeface="IBM Plex Sans" pitchFamily="34" charset="-122"/>
                <a:cs typeface="IBM Plex Sans" pitchFamily="34" charset="-120"/>
              </a:rPr>
              <a:t>Fabio Pachler</a:t>
            </a:r>
            <a:endParaRPr lang="en-US" sz="1400" dirty="0"/>
          </a:p>
          <a:p>
            <a:pPr marL="0" indent="0" algn="l">
              <a:lnSpc>
                <a:spcPts val="2100"/>
              </a:lnSpc>
              <a:buNone/>
            </a:pPr>
            <a:r>
              <a:rPr lang="en-US" sz="1400" dirty="0">
                <a:solidFill>
                  <a:srgbClr val="8FA3B0"/>
                </a:solidFill>
                <a:latin typeface="IBM Plex Sans" pitchFamily="34" charset="0"/>
                <a:ea typeface="IBM Plex Sans" pitchFamily="34" charset="-122"/>
                <a:cs typeface="IBM Plex Sans" pitchFamily="34" charset="-120"/>
              </a:rPr>
              <a:t>Projektleitung · Mainboard und Treiberplatinen · 7ABELI</a:t>
            </a:r>
            <a:endParaRPr lang="en-US" sz="1400" dirty="0"/>
          </a:p>
        </p:txBody>
      </p:sp>
      <p:sp>
        <p:nvSpPr>
          <p:cNvPr id="7" name="Shape 4"/>
          <p:cNvSpPr/>
          <p:nvPr/>
        </p:nvSpPr>
        <p:spPr>
          <a:xfrm>
            <a:off x="7089058" y="486902"/>
            <a:ext cx="4290142" cy="5884196"/>
          </a:xfrm>
          <a:prstGeom prst="roundRect">
            <a:avLst>
              <a:gd name="adj" fmla="val 1579"/>
            </a:avLst>
          </a:prstGeom>
          <a:solidFill>
            <a:srgbClr val="1D2B38"/>
          </a:solidFill>
          <a:ln/>
        </p:spPr>
        <p:txBody>
          <a:bodyPr/>
          <a:lstStyle/>
          <a:p>
            <a:endParaRPr lang="en-US"/>
          </a:p>
        </p:txBody>
      </p:sp>
      <p:pic>
        <p:nvPicPr>
          <p:cNvPr id="9" name="Grafik 8">
            <a:extLst>
              <a:ext uri="{FF2B5EF4-FFF2-40B4-BE49-F238E27FC236}">
                <a16:creationId xmlns:a16="http://schemas.microsoft.com/office/drawing/2014/main" id="{4C6E7CF8-B8C7-A393-7F49-F4FF99098597}"/>
              </a:ext>
            </a:extLst>
          </p:cNvPr>
          <p:cNvPicPr>
            <a:picLocks noChangeAspect="1"/>
          </p:cNvPicPr>
          <p:nvPr/>
        </p:nvPicPr>
        <p:blipFill>
          <a:blip r:embed="rId4"/>
          <a:srcRect l="16356" t="4719" r="13680" b="2676"/>
          <a:stretch>
            <a:fillRect/>
          </a:stretch>
        </p:blipFill>
        <p:spPr>
          <a:xfrm>
            <a:off x="7747819" y="798892"/>
            <a:ext cx="2980631" cy="52602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202B"/>
        </a:solidFill>
        <a:effectLst/>
      </p:bgPr>
    </p:bg>
    <p:spTree>
      <p:nvGrpSpPr>
        <p:cNvPr id="1" name=""/>
        <p:cNvGrpSpPr/>
        <p:nvPr/>
      </p:nvGrpSpPr>
      <p:grpSpPr>
        <a:xfrm>
          <a:off x="0" y="0"/>
          <a:ext cx="0" cy="0"/>
          <a:chOff x="0" y="0"/>
          <a:chExt cx="0" cy="0"/>
        </a:xfrm>
      </p:grpSpPr>
      <p:sp>
        <p:nvSpPr>
          <p:cNvPr id="2" name="TextBox 1"/>
          <p:cNvSpPr txBox="1"/>
          <p:nvPr/>
        </p:nvSpPr>
        <p:spPr>
          <a:xfrm>
            <a:off x="813816" y="612648"/>
            <a:ext cx="10881360" cy="192024"/>
          </a:xfrm>
          <a:prstGeom prst="rect">
            <a:avLst/>
          </a:prstGeom>
          <a:noFill/>
        </p:spPr>
        <p:txBody>
          <a:bodyPr wrap="square" lIns="0" tIns="0" rIns="0" bIns="0">
            <a:spAutoFit/>
          </a:bodyPr>
          <a:lstStyle/>
          <a:p>
            <a:pPr algn="l"/>
            <a:r>
              <a:rPr sz="1300" b="0" spc="150">
                <a:solidFill>
                  <a:srgbClr val="E07A3F"/>
                </a:solidFill>
                <a:latin typeface="JetBrains Mono"/>
              </a:rPr>
              <a:t>GESAMTSYSTEM</a:t>
            </a:r>
          </a:p>
        </p:txBody>
      </p:sp>
      <p:sp>
        <p:nvSpPr>
          <p:cNvPr id="3" name="TextBox 2"/>
          <p:cNvSpPr txBox="1"/>
          <p:nvPr/>
        </p:nvSpPr>
        <p:spPr>
          <a:xfrm>
            <a:off x="813816" y="850392"/>
            <a:ext cx="10881360" cy="384048"/>
          </a:xfrm>
          <a:prstGeom prst="rect">
            <a:avLst/>
          </a:prstGeom>
          <a:noFill/>
        </p:spPr>
        <p:txBody>
          <a:bodyPr wrap="square" lIns="0" tIns="0" rIns="0" bIns="0">
            <a:spAutoFit/>
          </a:bodyPr>
          <a:lstStyle/>
          <a:p>
            <a:pPr algn="l"/>
            <a:r>
              <a:rPr sz="3200" b="1">
                <a:solidFill>
                  <a:srgbClr val="F7F8F6"/>
                </a:solidFill>
                <a:latin typeface="IBM Plex Sans"/>
              </a:rPr>
              <a:t>Vom G-Code bis zur Bewegung</a:t>
            </a:r>
          </a:p>
        </p:txBody>
      </p:sp>
      <p:pic>
        <p:nvPicPr>
          <p:cNvPr id="4" name="Picture 3" descr="blockschaltbild.png"/>
          <p:cNvPicPr>
            <a:picLocks noChangeAspect="1"/>
          </p:cNvPicPr>
          <p:nvPr/>
        </p:nvPicPr>
        <p:blipFill>
          <a:blip r:embed="rId3"/>
          <a:stretch>
            <a:fillRect/>
          </a:stretch>
        </p:blipFill>
        <p:spPr>
          <a:xfrm>
            <a:off x="813816" y="1389888"/>
            <a:ext cx="10552176" cy="4924349"/>
          </a:xfrm>
          <a:prstGeom prst="rect">
            <a:avLst/>
          </a:prstGeom>
        </p:spPr>
      </p:pic>
      <p:sp>
        <p:nvSpPr>
          <p:cNvPr id="5" name="TextBox 4"/>
          <p:cNvSpPr txBox="1"/>
          <p:nvPr/>
        </p:nvSpPr>
        <p:spPr>
          <a:xfrm>
            <a:off x="813816" y="6419088"/>
            <a:ext cx="10515600" cy="274320"/>
          </a:xfrm>
          <a:prstGeom prst="rect">
            <a:avLst/>
          </a:prstGeom>
          <a:noFill/>
        </p:spPr>
        <p:txBody>
          <a:bodyPr wrap="square" lIns="0" tIns="0" rIns="0" bIns="0">
            <a:spAutoFit/>
          </a:bodyPr>
          <a:lstStyle/>
          <a:p>
            <a:pPr algn="l"/>
            <a:r>
              <a:rPr sz="1150" b="0">
                <a:solidFill>
                  <a:srgbClr val="8FA3B0"/>
                </a:solidFill>
                <a:latin typeface="IBM Plex Sans"/>
              </a:rPr>
              <a:t>Raspberry Pi plant die Bahnen · STM32F446RE führt sie in Echtzeit aus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202B"/>
        </a:solidFill>
        <a:effectLst/>
      </p:bgPr>
    </p:bg>
    <p:spTree>
      <p:nvGrpSpPr>
        <p:cNvPr id="1" name=""/>
        <p:cNvGrpSpPr/>
        <p:nvPr/>
      </p:nvGrpSpPr>
      <p:grpSpPr>
        <a:xfrm>
          <a:off x="0" y="0"/>
          <a:ext cx="0" cy="0"/>
          <a:chOff x="0" y="0"/>
          <a:chExt cx="0" cy="0"/>
        </a:xfrm>
      </p:grpSpPr>
      <p:sp>
        <p:nvSpPr>
          <p:cNvPr id="2" name="TextBox 1"/>
          <p:cNvSpPr txBox="1"/>
          <p:nvPr/>
        </p:nvSpPr>
        <p:spPr>
          <a:xfrm>
            <a:off x="813816" y="612648"/>
            <a:ext cx="10881360" cy="192024"/>
          </a:xfrm>
          <a:prstGeom prst="rect">
            <a:avLst/>
          </a:prstGeom>
          <a:noFill/>
        </p:spPr>
        <p:txBody>
          <a:bodyPr wrap="square" lIns="0" tIns="0" rIns="0" bIns="0">
            <a:spAutoFit/>
          </a:bodyPr>
          <a:lstStyle/>
          <a:p>
            <a:pPr algn="l"/>
            <a:r>
              <a:rPr sz="1300" b="0" spc="150">
                <a:solidFill>
                  <a:srgbClr val="E07A3F"/>
                </a:solidFill>
                <a:latin typeface="JetBrains Mono"/>
              </a:rPr>
              <a:t>PROJEKTPLANUNG</a:t>
            </a:r>
          </a:p>
        </p:txBody>
      </p:sp>
      <p:sp>
        <p:nvSpPr>
          <p:cNvPr id="3" name="TextBox 2"/>
          <p:cNvSpPr txBox="1"/>
          <p:nvPr/>
        </p:nvSpPr>
        <p:spPr>
          <a:xfrm>
            <a:off x="813816" y="850392"/>
            <a:ext cx="10881360" cy="384048"/>
          </a:xfrm>
          <a:prstGeom prst="rect">
            <a:avLst/>
          </a:prstGeom>
          <a:noFill/>
        </p:spPr>
        <p:txBody>
          <a:bodyPr wrap="square" lIns="0" tIns="0" rIns="0" bIns="0">
            <a:spAutoFit/>
          </a:bodyPr>
          <a:lstStyle/>
          <a:p>
            <a:pPr algn="l"/>
            <a:r>
              <a:rPr sz="3200" b="1">
                <a:solidFill>
                  <a:srgbClr val="F7F8F6"/>
                </a:solidFill>
                <a:latin typeface="IBM Plex Sans"/>
              </a:rPr>
              <a:t>Fünf Phasen vom Konzept zur Inbetriebnahme</a:t>
            </a:r>
          </a:p>
        </p:txBody>
      </p:sp>
      <p:sp>
        <p:nvSpPr>
          <p:cNvPr id="4" name="Rounded Rectangle 3"/>
          <p:cNvSpPr/>
          <p:nvPr/>
        </p:nvSpPr>
        <p:spPr>
          <a:xfrm>
            <a:off x="813816" y="1874519"/>
            <a:ext cx="1978761" cy="2514600"/>
          </a:xfrm>
          <a:prstGeom prst="roundRect">
            <a:avLst>
              <a:gd name="adj" fmla="val 8000"/>
            </a:avLst>
          </a:prstGeom>
          <a:solidFill>
            <a:srgbClr val="1D2B38"/>
          </a:solidFill>
          <a:ln w="15875">
            <a:solidFill>
              <a:srgbClr val="3A4854"/>
            </a:solidFill>
          </a:ln>
          <a:effectLst/>
        </p:spPr>
        <p:style>
          <a:lnRef idx="1">
            <a:schemeClr val="accent1"/>
          </a:lnRef>
          <a:fillRef idx="3">
            <a:schemeClr val="accent1"/>
          </a:fillRef>
          <a:effectRef idx="2">
            <a:schemeClr val="accent1"/>
          </a:effectRef>
          <a:fontRef idx="minor">
            <a:schemeClr val="lt1"/>
          </a:fontRef>
        </p:style>
        <p:txBody>
          <a:bodyPr wrap="square" lIns="164592" tIns="237744" rIns="164592" bIns="182880" rtlCol="0" anchor="t"/>
          <a:lstStyle/>
          <a:p>
            <a:r>
              <a:rPr sz="1100" spc="150" dirty="0">
                <a:solidFill>
                  <a:srgbClr val="E07A3F"/>
                </a:solidFill>
                <a:latin typeface="JetBrains Mono"/>
              </a:rPr>
              <a:t>PHASE 1</a:t>
            </a:r>
          </a:p>
          <a:p>
            <a:pPr>
              <a:spcBef>
                <a:spcPts val="1000"/>
              </a:spcBef>
            </a:pPr>
            <a:r>
              <a:rPr sz="1500" b="1" dirty="0" err="1">
                <a:solidFill>
                  <a:srgbClr val="F7F8F6"/>
                </a:solidFill>
                <a:latin typeface="IBM Plex Sans"/>
              </a:rPr>
              <a:t>Konzept</a:t>
            </a:r>
            <a:endParaRPr sz="1500" b="1" dirty="0">
              <a:solidFill>
                <a:srgbClr val="F7F8F6"/>
              </a:solidFill>
              <a:latin typeface="IBM Plex Sans"/>
            </a:endParaRPr>
          </a:p>
          <a:p>
            <a:pPr>
              <a:spcBef>
                <a:spcPts val="1000"/>
              </a:spcBef>
            </a:pPr>
            <a:r>
              <a:rPr sz="1200" dirty="0" err="1">
                <a:solidFill>
                  <a:srgbClr val="BFD8D5"/>
                </a:solidFill>
                <a:latin typeface="IBM Plex Sans"/>
              </a:rPr>
              <a:t>Anforderungen</a:t>
            </a:r>
            <a:r>
              <a:rPr sz="1200" dirty="0">
                <a:solidFill>
                  <a:srgbClr val="BFD8D5"/>
                </a:solidFill>
                <a:latin typeface="IBM Plex Sans"/>
              </a:rPr>
              <a:t>, </a:t>
            </a:r>
            <a:r>
              <a:rPr sz="1200" dirty="0" err="1">
                <a:solidFill>
                  <a:srgbClr val="BFD8D5"/>
                </a:solidFill>
                <a:latin typeface="IBM Plex Sans"/>
              </a:rPr>
              <a:t>Kinematik</a:t>
            </a:r>
            <a:r>
              <a:rPr sz="1200" dirty="0">
                <a:solidFill>
                  <a:srgbClr val="BFD8D5"/>
                </a:solidFill>
                <a:latin typeface="IBM Plex Sans"/>
              </a:rPr>
              <a:t>, </a:t>
            </a:r>
            <a:r>
              <a:rPr sz="1200" dirty="0" err="1">
                <a:solidFill>
                  <a:srgbClr val="BFD8D5"/>
                </a:solidFill>
                <a:latin typeface="IBM Plex Sans"/>
              </a:rPr>
              <a:t>Bauteilauswahl</a:t>
            </a:r>
            <a:endParaRPr sz="1200" dirty="0">
              <a:solidFill>
                <a:srgbClr val="BFD8D5"/>
              </a:solidFill>
              <a:latin typeface="IBM Plex Sans"/>
            </a:endParaRPr>
          </a:p>
        </p:txBody>
      </p:sp>
      <p:sp>
        <p:nvSpPr>
          <p:cNvPr id="5" name="Rounded Rectangle 4"/>
          <p:cNvSpPr/>
          <p:nvPr/>
        </p:nvSpPr>
        <p:spPr>
          <a:xfrm>
            <a:off x="2957169" y="1874519"/>
            <a:ext cx="1978761" cy="2514600"/>
          </a:xfrm>
          <a:prstGeom prst="roundRect">
            <a:avLst>
              <a:gd name="adj" fmla="val 8000"/>
            </a:avLst>
          </a:prstGeom>
          <a:solidFill>
            <a:srgbClr val="1D2B38"/>
          </a:solidFill>
          <a:ln w="15875">
            <a:solidFill>
              <a:srgbClr val="3A4854"/>
            </a:solidFill>
          </a:ln>
          <a:effectLst/>
        </p:spPr>
        <p:style>
          <a:lnRef idx="1">
            <a:schemeClr val="accent1"/>
          </a:lnRef>
          <a:fillRef idx="3">
            <a:schemeClr val="accent1"/>
          </a:fillRef>
          <a:effectRef idx="2">
            <a:schemeClr val="accent1"/>
          </a:effectRef>
          <a:fontRef idx="minor">
            <a:schemeClr val="lt1"/>
          </a:fontRef>
        </p:style>
        <p:txBody>
          <a:bodyPr wrap="square" lIns="164592" tIns="237744" rIns="164592" bIns="182880" rtlCol="0" anchor="t"/>
          <a:lstStyle/>
          <a:p>
            <a:r>
              <a:rPr sz="1100" spc="150" dirty="0">
                <a:solidFill>
                  <a:srgbClr val="E07A3F"/>
                </a:solidFill>
                <a:latin typeface="JetBrains Mono"/>
              </a:rPr>
              <a:t>PHASE 2</a:t>
            </a:r>
          </a:p>
          <a:p>
            <a:pPr>
              <a:spcBef>
                <a:spcPts val="1000"/>
              </a:spcBef>
            </a:pPr>
            <a:r>
              <a:rPr sz="1500" b="1" dirty="0" err="1">
                <a:solidFill>
                  <a:srgbClr val="F7F8F6"/>
                </a:solidFill>
                <a:latin typeface="IBM Plex Sans"/>
              </a:rPr>
              <a:t>Entwurf</a:t>
            </a:r>
            <a:endParaRPr sz="1500" b="1" dirty="0">
              <a:solidFill>
                <a:srgbClr val="F7F8F6"/>
              </a:solidFill>
              <a:latin typeface="IBM Plex Sans"/>
            </a:endParaRPr>
          </a:p>
          <a:p>
            <a:pPr>
              <a:spcBef>
                <a:spcPts val="1000"/>
              </a:spcBef>
            </a:pPr>
            <a:r>
              <a:rPr sz="1200" dirty="0" err="1">
                <a:solidFill>
                  <a:srgbClr val="BFD8D5"/>
                </a:solidFill>
                <a:latin typeface="IBM Plex Sans"/>
              </a:rPr>
              <a:t>Versorgung</a:t>
            </a:r>
            <a:r>
              <a:rPr sz="1200" dirty="0">
                <a:solidFill>
                  <a:srgbClr val="BFD8D5"/>
                </a:solidFill>
                <a:latin typeface="IBM Plex Sans"/>
              </a:rPr>
              <a:t> und </a:t>
            </a:r>
            <a:r>
              <a:rPr sz="1200" dirty="0" err="1">
                <a:solidFill>
                  <a:srgbClr val="BFD8D5"/>
                </a:solidFill>
                <a:latin typeface="IBM Plex Sans"/>
              </a:rPr>
              <a:t>Schaltpläne</a:t>
            </a:r>
            <a:endParaRPr sz="1200" dirty="0">
              <a:solidFill>
                <a:srgbClr val="BFD8D5"/>
              </a:solidFill>
              <a:latin typeface="IBM Plex Sans"/>
            </a:endParaRPr>
          </a:p>
          <a:p>
            <a:pPr>
              <a:spcBef>
                <a:spcPts val="1200"/>
              </a:spcBef>
            </a:pPr>
            <a:endParaRPr sz="1100" dirty="0">
              <a:solidFill>
                <a:srgbClr val="8FA3B0"/>
              </a:solidFill>
              <a:latin typeface="JetBrains Mono"/>
            </a:endParaRPr>
          </a:p>
        </p:txBody>
      </p:sp>
      <p:sp>
        <p:nvSpPr>
          <p:cNvPr id="6" name="Rounded Rectangle 5"/>
          <p:cNvSpPr/>
          <p:nvPr/>
        </p:nvSpPr>
        <p:spPr>
          <a:xfrm>
            <a:off x="5100522" y="1874519"/>
            <a:ext cx="1978761" cy="2514600"/>
          </a:xfrm>
          <a:prstGeom prst="roundRect">
            <a:avLst>
              <a:gd name="adj" fmla="val 8000"/>
            </a:avLst>
          </a:prstGeom>
          <a:solidFill>
            <a:srgbClr val="1D2B38"/>
          </a:solidFill>
          <a:ln w="15875">
            <a:solidFill>
              <a:srgbClr val="3A4854"/>
            </a:solidFill>
          </a:ln>
          <a:effectLst/>
        </p:spPr>
        <p:style>
          <a:lnRef idx="1">
            <a:schemeClr val="accent1"/>
          </a:lnRef>
          <a:fillRef idx="3">
            <a:schemeClr val="accent1"/>
          </a:fillRef>
          <a:effectRef idx="2">
            <a:schemeClr val="accent1"/>
          </a:effectRef>
          <a:fontRef idx="minor">
            <a:schemeClr val="lt1"/>
          </a:fontRef>
        </p:style>
        <p:txBody>
          <a:bodyPr wrap="square" lIns="164592" tIns="237744" rIns="164592" bIns="182880" rtlCol="0" anchor="t"/>
          <a:lstStyle/>
          <a:p>
            <a:r>
              <a:rPr sz="1100" spc="150" dirty="0">
                <a:solidFill>
                  <a:srgbClr val="E07A3F"/>
                </a:solidFill>
                <a:latin typeface="JetBrains Mono"/>
              </a:rPr>
              <a:t>PHASE 3</a:t>
            </a:r>
          </a:p>
          <a:p>
            <a:pPr>
              <a:spcBef>
                <a:spcPts val="1000"/>
              </a:spcBef>
            </a:pPr>
            <a:r>
              <a:rPr sz="1500" b="1" dirty="0">
                <a:solidFill>
                  <a:srgbClr val="F7F8F6"/>
                </a:solidFill>
                <a:latin typeface="IBM Plex Sans"/>
              </a:rPr>
              <a:t>Layout</a:t>
            </a:r>
          </a:p>
          <a:p>
            <a:pPr>
              <a:spcBef>
                <a:spcPts val="1000"/>
              </a:spcBef>
            </a:pPr>
            <a:r>
              <a:rPr sz="1200" dirty="0" err="1">
                <a:solidFill>
                  <a:srgbClr val="BFD8D5"/>
                </a:solidFill>
                <a:latin typeface="IBM Plex Sans"/>
              </a:rPr>
              <a:t>Lagenaufbau</a:t>
            </a:r>
            <a:r>
              <a:rPr sz="1200" dirty="0">
                <a:solidFill>
                  <a:srgbClr val="BFD8D5"/>
                </a:solidFill>
                <a:latin typeface="IBM Plex Sans"/>
              </a:rPr>
              <a:t>, </a:t>
            </a:r>
            <a:r>
              <a:rPr sz="1200" dirty="0" err="1">
                <a:solidFill>
                  <a:srgbClr val="BFD8D5"/>
                </a:solidFill>
                <a:latin typeface="IBM Plex Sans"/>
              </a:rPr>
              <a:t>Leiterbahnen</a:t>
            </a:r>
            <a:r>
              <a:rPr sz="1200" dirty="0">
                <a:solidFill>
                  <a:srgbClr val="BFD8D5"/>
                </a:solidFill>
                <a:latin typeface="IBM Plex Sans"/>
              </a:rPr>
              <a:t>, </a:t>
            </a:r>
            <a:r>
              <a:rPr sz="1200" dirty="0" err="1">
                <a:solidFill>
                  <a:srgbClr val="BFD8D5"/>
                </a:solidFill>
                <a:latin typeface="IBM Plex Sans"/>
              </a:rPr>
              <a:t>Fertigung</a:t>
            </a:r>
            <a:endParaRPr sz="1200" dirty="0">
              <a:solidFill>
                <a:srgbClr val="BFD8D5"/>
              </a:solidFill>
              <a:latin typeface="IBM Plex Sans"/>
            </a:endParaRPr>
          </a:p>
        </p:txBody>
      </p:sp>
      <p:sp>
        <p:nvSpPr>
          <p:cNvPr id="7" name="Rounded Rectangle 6"/>
          <p:cNvSpPr/>
          <p:nvPr/>
        </p:nvSpPr>
        <p:spPr>
          <a:xfrm>
            <a:off x="7243875" y="1874519"/>
            <a:ext cx="1978761" cy="2514600"/>
          </a:xfrm>
          <a:prstGeom prst="roundRect">
            <a:avLst>
              <a:gd name="adj" fmla="val 8000"/>
            </a:avLst>
          </a:prstGeom>
          <a:solidFill>
            <a:srgbClr val="1D2B38"/>
          </a:solidFill>
          <a:ln w="15875">
            <a:solidFill>
              <a:srgbClr val="3A4854"/>
            </a:solidFill>
          </a:ln>
          <a:effectLst/>
        </p:spPr>
        <p:style>
          <a:lnRef idx="1">
            <a:schemeClr val="accent1"/>
          </a:lnRef>
          <a:fillRef idx="3">
            <a:schemeClr val="accent1"/>
          </a:fillRef>
          <a:effectRef idx="2">
            <a:schemeClr val="accent1"/>
          </a:effectRef>
          <a:fontRef idx="minor">
            <a:schemeClr val="lt1"/>
          </a:fontRef>
        </p:style>
        <p:txBody>
          <a:bodyPr wrap="square" lIns="164592" tIns="237744" rIns="164592" bIns="182880" rtlCol="0" anchor="t"/>
          <a:lstStyle/>
          <a:p>
            <a:r>
              <a:rPr sz="1100" spc="150" dirty="0">
                <a:solidFill>
                  <a:srgbClr val="E07A3F"/>
                </a:solidFill>
                <a:latin typeface="JetBrains Mono"/>
              </a:rPr>
              <a:t>PHASE 4</a:t>
            </a:r>
          </a:p>
          <a:p>
            <a:pPr>
              <a:spcBef>
                <a:spcPts val="1000"/>
              </a:spcBef>
            </a:pPr>
            <a:r>
              <a:rPr sz="1500" b="1" dirty="0">
                <a:solidFill>
                  <a:srgbClr val="F7F8F6"/>
                </a:solidFill>
                <a:latin typeface="IBM Plex Sans"/>
              </a:rPr>
              <a:t>Aufbau</a:t>
            </a:r>
          </a:p>
          <a:p>
            <a:pPr>
              <a:spcBef>
                <a:spcPts val="1000"/>
              </a:spcBef>
            </a:pPr>
            <a:r>
              <a:rPr sz="1200" dirty="0" err="1">
                <a:solidFill>
                  <a:srgbClr val="BFD8D5"/>
                </a:solidFill>
                <a:latin typeface="IBM Plex Sans"/>
              </a:rPr>
              <a:t>Bestückung</a:t>
            </a:r>
            <a:r>
              <a:rPr sz="1200" dirty="0">
                <a:solidFill>
                  <a:srgbClr val="BFD8D5"/>
                </a:solidFill>
                <a:latin typeface="IBM Plex Sans"/>
              </a:rPr>
              <a:t> und </a:t>
            </a:r>
            <a:r>
              <a:rPr sz="1200" dirty="0" err="1">
                <a:solidFill>
                  <a:srgbClr val="BFD8D5"/>
                </a:solidFill>
                <a:latin typeface="IBM Plex Sans"/>
              </a:rPr>
              <a:t>Prüfung</a:t>
            </a:r>
            <a:r>
              <a:rPr sz="1200" dirty="0">
                <a:solidFill>
                  <a:srgbClr val="BFD8D5"/>
                </a:solidFill>
                <a:latin typeface="IBM Plex Sans"/>
              </a:rPr>
              <a:t> der </a:t>
            </a:r>
            <a:r>
              <a:rPr sz="1200" dirty="0" err="1">
                <a:solidFill>
                  <a:srgbClr val="BFD8D5"/>
                </a:solidFill>
                <a:latin typeface="IBM Plex Sans"/>
              </a:rPr>
              <a:t>Versorgung</a:t>
            </a:r>
            <a:endParaRPr sz="1200" dirty="0">
              <a:solidFill>
                <a:srgbClr val="BFD8D5"/>
              </a:solidFill>
              <a:latin typeface="IBM Plex Sans"/>
            </a:endParaRPr>
          </a:p>
        </p:txBody>
      </p:sp>
      <p:sp>
        <p:nvSpPr>
          <p:cNvPr id="8" name="Rounded Rectangle 7"/>
          <p:cNvSpPr/>
          <p:nvPr/>
        </p:nvSpPr>
        <p:spPr>
          <a:xfrm>
            <a:off x="9387228" y="1874519"/>
            <a:ext cx="1978761" cy="2514600"/>
          </a:xfrm>
          <a:prstGeom prst="roundRect">
            <a:avLst>
              <a:gd name="adj" fmla="val 8000"/>
            </a:avLst>
          </a:prstGeom>
          <a:solidFill>
            <a:srgbClr val="1D2B38"/>
          </a:solidFill>
          <a:ln w="15875">
            <a:solidFill>
              <a:srgbClr val="3A4854"/>
            </a:solidFill>
          </a:ln>
          <a:effectLst/>
        </p:spPr>
        <p:style>
          <a:lnRef idx="1">
            <a:schemeClr val="accent1"/>
          </a:lnRef>
          <a:fillRef idx="3">
            <a:schemeClr val="accent1"/>
          </a:fillRef>
          <a:effectRef idx="2">
            <a:schemeClr val="accent1"/>
          </a:effectRef>
          <a:fontRef idx="minor">
            <a:schemeClr val="lt1"/>
          </a:fontRef>
        </p:style>
        <p:txBody>
          <a:bodyPr wrap="square" lIns="164592" tIns="237744" rIns="164592" bIns="182880" rtlCol="0" anchor="t"/>
          <a:lstStyle/>
          <a:p>
            <a:r>
              <a:rPr sz="1100" spc="150" dirty="0">
                <a:solidFill>
                  <a:srgbClr val="E07A3F"/>
                </a:solidFill>
                <a:latin typeface="JetBrains Mono"/>
              </a:rPr>
              <a:t>PHASE 5</a:t>
            </a:r>
          </a:p>
          <a:p>
            <a:pPr>
              <a:spcBef>
                <a:spcPts val="1000"/>
              </a:spcBef>
            </a:pPr>
            <a:r>
              <a:rPr sz="1500" b="1" dirty="0" err="1">
                <a:solidFill>
                  <a:srgbClr val="F7F8F6"/>
                </a:solidFill>
                <a:latin typeface="IBM Plex Sans"/>
              </a:rPr>
              <a:t>Inbetrieb­nahme</a:t>
            </a:r>
            <a:endParaRPr sz="1500" b="1" dirty="0">
              <a:solidFill>
                <a:srgbClr val="F7F8F6"/>
              </a:solidFill>
              <a:latin typeface="IBM Plex Sans"/>
            </a:endParaRPr>
          </a:p>
          <a:p>
            <a:pPr>
              <a:spcBef>
                <a:spcPts val="1000"/>
              </a:spcBef>
            </a:pPr>
            <a:r>
              <a:rPr sz="1200" dirty="0" err="1">
                <a:solidFill>
                  <a:srgbClr val="BFD8D5"/>
                </a:solidFill>
                <a:latin typeface="IBM Plex Sans"/>
              </a:rPr>
              <a:t>Motoren</a:t>
            </a:r>
            <a:r>
              <a:rPr sz="1200" dirty="0">
                <a:solidFill>
                  <a:srgbClr val="BFD8D5"/>
                </a:solidFill>
                <a:latin typeface="IBM Plex Sans"/>
              </a:rPr>
              <a:t>, </a:t>
            </a:r>
            <a:r>
              <a:rPr sz="1200" dirty="0" err="1">
                <a:solidFill>
                  <a:srgbClr val="BFD8D5"/>
                </a:solidFill>
                <a:latin typeface="IBM Plex Sans"/>
              </a:rPr>
              <a:t>Heizkreise</a:t>
            </a:r>
            <a:r>
              <a:rPr sz="1200" dirty="0">
                <a:solidFill>
                  <a:srgbClr val="BFD8D5"/>
                </a:solidFill>
                <a:latin typeface="IBM Plex Sans"/>
              </a:rPr>
              <a:t>, </a:t>
            </a:r>
            <a:r>
              <a:rPr sz="1200" dirty="0" err="1">
                <a:solidFill>
                  <a:srgbClr val="BFD8D5"/>
                </a:solidFill>
                <a:latin typeface="IBM Plex Sans"/>
              </a:rPr>
              <a:t>Fehleranalyse</a:t>
            </a:r>
            <a:endParaRPr sz="1200" dirty="0">
              <a:solidFill>
                <a:srgbClr val="BFD8D5"/>
              </a:solidFill>
              <a:latin typeface="IBM Plex Sans"/>
            </a:endParaRPr>
          </a:p>
        </p:txBody>
      </p:sp>
      <p:sp>
        <p:nvSpPr>
          <p:cNvPr id="9" name="Rounded Rectangle 8"/>
          <p:cNvSpPr/>
          <p:nvPr/>
        </p:nvSpPr>
        <p:spPr>
          <a:xfrm>
            <a:off x="813816" y="4800600"/>
            <a:ext cx="10552176" cy="914400"/>
          </a:xfrm>
          <a:prstGeom prst="roundRect">
            <a:avLst>
              <a:gd name="adj" fmla="val 8000"/>
            </a:avLst>
          </a:prstGeom>
          <a:solidFill>
            <a:srgbClr val="1D2B38"/>
          </a:solidFill>
          <a:ln w="15875">
            <a:solidFill>
              <a:srgbClr val="3A4854"/>
            </a:solidFill>
          </a:ln>
          <a:effectLst/>
        </p:spPr>
        <p:style>
          <a:lnRef idx="1">
            <a:schemeClr val="accent1"/>
          </a:lnRef>
          <a:fillRef idx="3">
            <a:schemeClr val="accent1"/>
          </a:fillRef>
          <a:effectRef idx="2">
            <a:schemeClr val="accent1"/>
          </a:effectRef>
          <a:fontRef idx="minor">
            <a:schemeClr val="lt1"/>
          </a:fontRef>
        </p:style>
        <p:txBody>
          <a:bodyPr wrap="square" lIns="256032" tIns="182880" rIns="256032" bIns="182880" rtlCol="0" anchor="ctr"/>
          <a:lstStyle/>
          <a:p>
            <a:r>
              <a:rPr sz="1400" dirty="0" err="1">
                <a:solidFill>
                  <a:srgbClr val="BFD8D5"/>
                </a:solidFill>
                <a:latin typeface="IBM Plex Sans"/>
              </a:rPr>
              <a:t>Projektleitung</a:t>
            </a:r>
            <a:r>
              <a:rPr sz="1400" dirty="0">
                <a:solidFill>
                  <a:srgbClr val="BFD8D5"/>
                </a:solidFill>
                <a:latin typeface="IBM Plex Sans"/>
              </a:rPr>
              <a:t>: </a:t>
            </a:r>
            <a:r>
              <a:rPr sz="1400" dirty="0" err="1">
                <a:solidFill>
                  <a:srgbClr val="BFD8D5"/>
                </a:solidFill>
                <a:latin typeface="IBM Plex Sans"/>
              </a:rPr>
              <a:t>Projektstrukturplan</a:t>
            </a:r>
            <a:r>
              <a:rPr sz="1400" dirty="0">
                <a:solidFill>
                  <a:srgbClr val="BFD8D5"/>
                </a:solidFill>
                <a:latin typeface="IBM Plex Sans"/>
              </a:rPr>
              <a:t> und </a:t>
            </a:r>
            <a:r>
              <a:rPr sz="1400" dirty="0" err="1">
                <a:solidFill>
                  <a:srgbClr val="BFD8D5"/>
                </a:solidFill>
                <a:latin typeface="IBM Plex Sans"/>
              </a:rPr>
              <a:t>Terminplanung</a:t>
            </a:r>
            <a:r>
              <a:rPr sz="1400" dirty="0">
                <a:solidFill>
                  <a:srgbClr val="BFD8D5"/>
                </a:solidFill>
                <a:latin typeface="IBM Plex Sans"/>
              </a:rPr>
              <a:t> in Microsoft Planner </a:t>
            </a:r>
            <a:r>
              <a:rPr sz="1400" dirty="0" err="1">
                <a:solidFill>
                  <a:srgbClr val="BFD8D5"/>
                </a:solidFill>
                <a:latin typeface="IBM Plex Sans"/>
              </a:rPr>
              <a:t>geführt</a:t>
            </a:r>
            <a:r>
              <a:rPr sz="1400" dirty="0">
                <a:solidFill>
                  <a:srgbClr val="BFD8D5"/>
                </a:solidFill>
                <a:latin typeface="IBM Plex San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1195884"/>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E07A3F"/>
                </a:solidFill>
                <a:latin typeface="JetBrains Mono" pitchFamily="49" charset="0"/>
                <a:ea typeface="JetBrains Mono" pitchFamily="49" charset="-122"/>
                <a:cs typeface="JetBrains Mono" pitchFamily="49" charset="-120"/>
              </a:rPr>
              <a:t>AUFGABENTEILUNG</a:t>
            </a:r>
            <a:endParaRPr lang="en-US" sz="1300" dirty="0"/>
          </a:p>
        </p:txBody>
      </p:sp>
      <p:sp>
        <p:nvSpPr>
          <p:cNvPr id="3" name="Text 1"/>
          <p:cNvSpPr>
            <a:spLocks noGrp="1"/>
          </p:cNvSpPr>
          <p:nvPr>
            <p:ph type="title"/>
          </p:nvPr>
        </p:nvSpPr>
        <p:spPr>
          <a:xfrm>
            <a:off x="812800" y="1515864"/>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7F8F6"/>
                </a:solidFill>
                <a:latin typeface="IBM Plex Sans" pitchFamily="34" charset="0"/>
                <a:ea typeface="IBM Plex Sans" pitchFamily="34" charset="-122"/>
                <a:cs typeface="IBM Plex Sans" pitchFamily="34" charset="-120"/>
              </a:rPr>
              <a:t>Die Anforderung, aufgeteilt auf drei Themenbereiche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893023028"/>
              </p:ext>
            </p:extLst>
          </p:nvPr>
        </p:nvGraphicFramePr>
        <p:xfrm>
          <a:off x="825500" y="2305745"/>
          <a:ext cx="10553700" cy="2243950"/>
        </p:xfrm>
        <a:graphic>
          <a:graphicData uri="http://schemas.openxmlformats.org/drawingml/2006/table">
            <a:tbl>
              <a:tblPr/>
              <a:tblGrid>
                <a:gridCol w="2955036">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567630">
                <a:tc>
                  <a:txBody>
                    <a:bodyPr/>
                    <a:lstStyle/>
                    <a:p>
                      <a:pPr marL="0" indent="0">
                        <a:lnSpc>
                          <a:spcPts val="2170"/>
                        </a:lnSpc>
                        <a:buNone/>
                      </a:pPr>
                      <a:r>
                        <a:rPr lang="en-US" sz="1550" b="1" dirty="0">
                          <a:solidFill>
                            <a:srgbClr val="8FA3B0"/>
                          </a:solidFill>
                          <a:latin typeface="IBM Plex Sans" pitchFamily="34" charset="0"/>
                          <a:ea typeface="IBM Plex Sans" pitchFamily="34" charset="-122"/>
                          <a:cs typeface="IBM Plex Sans" pitchFamily="34" charset="-120"/>
                        </a:rPr>
                        <a:t>Themenbereich</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475057"/>
                      </a:solidFill>
                      <a:prstDash val="solid"/>
                      <a:round/>
                      <a:headEnd type="none" w="med" len="med"/>
                      <a:tailEnd type="none" w="med" len="med"/>
                    </a:lnL>
                    <a:lnR w="12700" cap="flat" cmpd="sng" algn="ctr">
                      <a:solidFill>
                        <a:srgbClr val="555D64"/>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555D64"/>
                      </a:solidFill>
                      <a:prstDash val="solid"/>
                      <a:round/>
                      <a:headEnd type="none" w="med" len="med"/>
                      <a:tailEnd type="none" w="med" len="med"/>
                    </a:lnB>
                    <a:solidFill>
                      <a:srgbClr val="27313B"/>
                    </a:solidFill>
                  </a:tcPr>
                </a:tc>
                <a:tc>
                  <a:txBody>
                    <a:bodyPr/>
                    <a:lstStyle/>
                    <a:p>
                      <a:pPr marL="0" indent="0">
                        <a:lnSpc>
                          <a:spcPts val="2170"/>
                        </a:lnSpc>
                        <a:buNone/>
                      </a:pPr>
                      <a:r>
                        <a:rPr lang="en-US" sz="1550" b="1" dirty="0">
                          <a:solidFill>
                            <a:srgbClr val="8FA3B0"/>
                          </a:solidFill>
                          <a:latin typeface="IBM Plex Sans" pitchFamily="34" charset="0"/>
                          <a:ea typeface="IBM Plex Sans" pitchFamily="34" charset="-122"/>
                          <a:cs typeface="IBM Plex Sans" pitchFamily="34" charset="-120"/>
                        </a:rPr>
                        <a:t>Person</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555D64"/>
                      </a:solidFill>
                      <a:prstDash val="solid"/>
                      <a:round/>
                      <a:headEnd type="none" w="med" len="med"/>
                      <a:tailEnd type="none" w="med" len="med"/>
                    </a:lnL>
                    <a:lnR w="12700" cap="flat" cmpd="sng" algn="ctr">
                      <a:solidFill>
                        <a:srgbClr val="555D64"/>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555D64"/>
                      </a:solidFill>
                      <a:prstDash val="solid"/>
                      <a:round/>
                      <a:headEnd type="none" w="med" len="med"/>
                      <a:tailEnd type="none" w="med" len="med"/>
                    </a:lnB>
                    <a:solidFill>
                      <a:srgbClr val="27313B"/>
                    </a:solidFill>
                  </a:tcPr>
                </a:tc>
                <a:tc>
                  <a:txBody>
                    <a:bodyPr/>
                    <a:lstStyle/>
                    <a:p>
                      <a:pPr marL="0" indent="0">
                        <a:lnSpc>
                          <a:spcPts val="2170"/>
                        </a:lnSpc>
                        <a:buNone/>
                      </a:pPr>
                      <a:r>
                        <a:rPr lang="en-US" sz="1550" b="1" dirty="0">
                          <a:solidFill>
                            <a:srgbClr val="8FA3B0"/>
                          </a:solidFill>
                          <a:latin typeface="IBM Plex Sans" pitchFamily="34" charset="0"/>
                          <a:ea typeface="IBM Plex Sans" pitchFamily="34" charset="-122"/>
                          <a:cs typeface="IBM Plex Sans" pitchFamily="34" charset="-120"/>
                        </a:rPr>
                        <a:t>Beitrag zur Modularität</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555D64"/>
                      </a:solidFill>
                      <a:prstDash val="solid"/>
                      <a:round/>
                      <a:headEnd type="none" w="med" len="med"/>
                      <a:tailEnd type="none" w="med" len="med"/>
                    </a:lnL>
                    <a:lnR w="12700" cap="flat" cmpd="sng" algn="ctr">
                      <a:solidFill>
                        <a:srgbClr val="555D64"/>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555D64"/>
                      </a:solidFill>
                      <a:prstDash val="solid"/>
                      <a:round/>
                      <a:headEnd type="none" w="med" len="med"/>
                      <a:tailEnd type="none" w="med" len="med"/>
                    </a:lnB>
                    <a:solidFill>
                      <a:srgbClr val="27313B"/>
                    </a:solidFill>
                  </a:tcPr>
                </a:tc>
                <a:extLst>
                  <a:ext uri="{0D108BD9-81ED-4DB2-BD59-A6C34878D82A}">
                    <a16:rowId xmlns:a16="http://schemas.microsoft.com/office/drawing/2014/main" val="10000"/>
                  </a:ext>
                </a:extLst>
              </a:tr>
              <a:tr h="567630">
                <a:tc>
                  <a:txBody>
                    <a:bodyPr/>
                    <a:lstStyle/>
                    <a:p>
                      <a:pPr marL="0" indent="0">
                        <a:lnSpc>
                          <a:spcPts val="2170"/>
                        </a:lnSpc>
                        <a:buNone/>
                      </a:pPr>
                      <a:r>
                        <a:rPr lang="en-US" sz="1550" dirty="0">
                          <a:solidFill>
                            <a:srgbClr val="F7F8F6"/>
                          </a:solidFill>
                          <a:latin typeface="IBM Plex Sans" pitchFamily="34" charset="0"/>
                          <a:ea typeface="IBM Plex Sans" pitchFamily="34" charset="-122"/>
                          <a:cs typeface="IBM Plex Sans" pitchFamily="34" charset="-120"/>
                        </a:rPr>
                        <a:t>Software</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555D64"/>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2170"/>
                        </a:lnSpc>
                        <a:buNone/>
                      </a:pPr>
                      <a:r>
                        <a:rPr lang="en-US" sz="1550" dirty="0">
                          <a:solidFill>
                            <a:srgbClr val="F7F8F6"/>
                          </a:solidFill>
                          <a:latin typeface="IBM Plex Sans" pitchFamily="34" charset="0"/>
                          <a:ea typeface="IBM Plex Sans" pitchFamily="34" charset="-122"/>
                          <a:cs typeface="IBM Plex Sans" pitchFamily="34" charset="-120"/>
                        </a:rPr>
                        <a:t>Samir El-Farfar</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555D64"/>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2170"/>
                        </a:lnSpc>
                        <a:buNone/>
                      </a:pPr>
                      <a:r>
                        <a:rPr lang="en-US" sz="1550" dirty="0">
                          <a:solidFill>
                            <a:srgbClr val="F7F8F6"/>
                          </a:solidFill>
                          <a:latin typeface="IBM Plex Sans" pitchFamily="34" charset="0"/>
                          <a:ea typeface="IBM Plex Sans" pitchFamily="34" charset="-122"/>
                          <a:cs typeface="IBM Plex Sans" pitchFamily="34" charset="-120"/>
                        </a:rPr>
                        <a:t>Ansteuerung, Weboberfläche</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555D64"/>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extLst>
                  <a:ext uri="{0D108BD9-81ED-4DB2-BD59-A6C34878D82A}">
                    <a16:rowId xmlns:a16="http://schemas.microsoft.com/office/drawing/2014/main" val="10001"/>
                  </a:ext>
                </a:extLst>
              </a:tr>
              <a:tr h="541060">
                <a:tc>
                  <a:txBody>
                    <a:bodyPr/>
                    <a:lstStyle/>
                    <a:p>
                      <a:pPr marL="0" indent="0">
                        <a:lnSpc>
                          <a:spcPts val="2170"/>
                        </a:lnSpc>
                        <a:buNone/>
                      </a:pPr>
                      <a:r>
                        <a:rPr lang="en-US" sz="1550" dirty="0">
                          <a:solidFill>
                            <a:srgbClr val="F7F8F6"/>
                          </a:solidFill>
                          <a:latin typeface="IBM Plex Sans" pitchFamily="34" charset="0"/>
                          <a:ea typeface="IBM Plex Sans" pitchFamily="34" charset="-122"/>
                          <a:cs typeface="IBM Plex Sans" pitchFamily="34" charset="-120"/>
                        </a:rPr>
                        <a:t>Energieversorgung</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2170"/>
                        </a:lnSpc>
                        <a:buNone/>
                      </a:pPr>
                      <a:r>
                        <a:rPr lang="en-US" sz="1550" dirty="0">
                          <a:solidFill>
                            <a:srgbClr val="F7F8F6"/>
                          </a:solidFill>
                          <a:latin typeface="IBM Plex Sans" pitchFamily="34" charset="0"/>
                          <a:ea typeface="IBM Plex Sans" pitchFamily="34" charset="-122"/>
                          <a:cs typeface="IBM Plex Sans" pitchFamily="34" charset="-120"/>
                        </a:rPr>
                        <a:t>Christoph Schauperl</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2170"/>
                        </a:lnSpc>
                        <a:buNone/>
                      </a:pPr>
                      <a:r>
                        <a:rPr lang="en-US" sz="1550" dirty="0">
                          <a:solidFill>
                            <a:srgbClr val="F7F8F6"/>
                          </a:solidFill>
                          <a:latin typeface="IBM Plex Sans" pitchFamily="34" charset="0"/>
                          <a:ea typeface="IBM Plex Sans" pitchFamily="34" charset="-122"/>
                          <a:cs typeface="IBM Plex Sans" pitchFamily="34" charset="-120"/>
                        </a:rPr>
                        <a:t>Netzteil, Mitarbeit an der Mechanik</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extLst>
                  <a:ext uri="{0D108BD9-81ED-4DB2-BD59-A6C34878D82A}">
                    <a16:rowId xmlns:a16="http://schemas.microsoft.com/office/drawing/2014/main" val="10002"/>
                  </a:ext>
                </a:extLst>
              </a:tr>
              <a:tr h="567630">
                <a:tc>
                  <a:txBody>
                    <a:bodyPr/>
                    <a:lstStyle/>
                    <a:p>
                      <a:pPr marL="0" indent="0">
                        <a:lnSpc>
                          <a:spcPts val="2170"/>
                        </a:lnSpc>
                        <a:buNone/>
                      </a:pPr>
                      <a:r>
                        <a:rPr lang="en-US" sz="1550" dirty="0">
                          <a:solidFill>
                            <a:srgbClr val="15202B"/>
                          </a:solidFill>
                          <a:latin typeface="IBM Plex Sans" pitchFamily="34" charset="0"/>
                          <a:ea typeface="IBM Plex Sans" pitchFamily="34" charset="-122"/>
                          <a:cs typeface="IBM Plex Sans" pitchFamily="34" charset="-120"/>
                        </a:rPr>
                        <a:t>Elektronik</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475057"/>
                      </a:solidFill>
                      <a:prstDash val="solid"/>
                      <a:round/>
                      <a:headEnd type="none" w="med" len="med"/>
                      <a:tailEnd type="none" w="med" len="med"/>
                    </a:lnL>
                    <a:lnR w="12700" cap="flat" cmpd="sng" algn="ctr">
                      <a:solidFill>
                        <a:srgbClr val="E6966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solidFill>
                      <a:srgbClr val="E07A3F"/>
                    </a:solidFill>
                  </a:tcPr>
                </a:tc>
                <a:tc>
                  <a:txBody>
                    <a:bodyPr/>
                    <a:lstStyle/>
                    <a:p>
                      <a:pPr marL="0" indent="0">
                        <a:lnSpc>
                          <a:spcPts val="2170"/>
                        </a:lnSpc>
                        <a:buNone/>
                      </a:pPr>
                      <a:r>
                        <a:rPr lang="en-US" sz="1550" dirty="0">
                          <a:solidFill>
                            <a:srgbClr val="15202B"/>
                          </a:solidFill>
                          <a:latin typeface="IBM Plex Sans" pitchFamily="34" charset="0"/>
                          <a:ea typeface="IBM Plex Sans" pitchFamily="34" charset="-122"/>
                          <a:cs typeface="IBM Plex Sans" pitchFamily="34" charset="-120"/>
                        </a:rPr>
                        <a:t>Fabio Pachler</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E69667"/>
                      </a:solidFill>
                      <a:prstDash val="solid"/>
                      <a:round/>
                      <a:headEnd type="none" w="med" len="med"/>
                      <a:tailEnd type="none" w="med" len="med"/>
                    </a:lnL>
                    <a:lnR w="12700" cap="flat" cmpd="sng" algn="ctr">
                      <a:solidFill>
                        <a:srgbClr val="E6966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solidFill>
                      <a:srgbClr val="E07A3F"/>
                    </a:solidFill>
                  </a:tcPr>
                </a:tc>
                <a:tc>
                  <a:txBody>
                    <a:bodyPr/>
                    <a:lstStyle/>
                    <a:p>
                      <a:pPr marL="0" indent="0">
                        <a:lnSpc>
                          <a:spcPts val="2170"/>
                        </a:lnSpc>
                        <a:buNone/>
                      </a:pPr>
                      <a:r>
                        <a:rPr lang="en-US" sz="1550" dirty="0">
                          <a:solidFill>
                            <a:srgbClr val="15202B"/>
                          </a:solidFill>
                          <a:latin typeface="IBM Plex Sans" pitchFamily="34" charset="0"/>
                          <a:ea typeface="IBM Plex Sans" pitchFamily="34" charset="-122"/>
                          <a:cs typeface="IBM Plex Sans" pitchFamily="34" charset="-120"/>
                        </a:rPr>
                        <a:t>Mainboard und Treiberplatinen</a:t>
                      </a:r>
                      <a:endParaRPr lang="en-US" sz="1550" dirty="0">
                        <a:latin typeface="IBM Plex Sans" charset="0"/>
                        <a:ea typeface="IBM Plex Sans" charset="0"/>
                        <a:cs typeface="IBM Plex Sans" charset="0"/>
                      </a:endParaRPr>
                    </a:p>
                  </a:txBody>
                  <a:tcPr marL="139700" marR="139700" marT="139700" marB="139700">
                    <a:lnL w="12700" cap="flat" cmpd="sng" algn="ctr">
                      <a:solidFill>
                        <a:srgbClr val="E69667"/>
                      </a:solidFill>
                      <a:prstDash val="solid"/>
                      <a:round/>
                      <a:headEnd type="none" w="med" len="med"/>
                      <a:tailEnd type="none" w="med" len="med"/>
                    </a:lnL>
                    <a:lnR w="12700" cap="flat" cmpd="sng" algn="ctr">
                      <a:solidFill>
                        <a:srgbClr val="E6966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solidFill>
                      <a:srgbClr val="E07A3F"/>
                    </a:solidFill>
                  </a:tcPr>
                </a:tc>
                <a:extLst>
                  <a:ext uri="{0D108BD9-81ED-4DB2-BD59-A6C34878D82A}">
                    <a16:rowId xmlns:a16="http://schemas.microsoft.com/office/drawing/2014/main" val="10003"/>
                  </a:ext>
                </a:extLst>
              </a:tr>
            </a:tbl>
          </a:graphicData>
        </a:graphic>
      </p:graphicFrame>
      <p:sp>
        <p:nvSpPr>
          <p:cNvPr id="5" name="Text 2"/>
          <p:cNvSpPr/>
          <p:nvPr/>
        </p:nvSpPr>
        <p:spPr>
          <a:xfrm>
            <a:off x="812800" y="4906466"/>
            <a:ext cx="981075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FD8D5"/>
                </a:solidFill>
                <a:latin typeface="IBM Plex Sans" pitchFamily="34" charset="0"/>
                <a:ea typeface="IBM Plex Sans" pitchFamily="34" charset="-122"/>
                <a:cs typeface="IBM Plex Sans" pitchFamily="34" charset="-120"/>
              </a:rPr>
              <a:t>Aufbau des Druckers (Mechanik) und </a:t>
            </a:r>
            <a:r>
              <a:rPr lang="en-US" sz="1500" dirty="0" err="1">
                <a:solidFill>
                  <a:srgbClr val="BFD8D5"/>
                </a:solidFill>
                <a:latin typeface="IBM Plex Sans" pitchFamily="34" charset="0"/>
                <a:ea typeface="IBM Plex Sans" pitchFamily="34" charset="-122"/>
                <a:cs typeface="IBM Plex Sans" pitchFamily="34" charset="-120"/>
              </a:rPr>
              <a:t>Inbetriebnahme</a:t>
            </a:r>
            <a:r>
              <a:rPr lang="en-US" sz="1500" dirty="0">
                <a:solidFill>
                  <a:srgbClr val="BFD8D5"/>
                </a:solidFill>
                <a:latin typeface="IBM Plex Sans" pitchFamily="34" charset="0"/>
                <a:ea typeface="IBM Plex Sans" pitchFamily="34" charset="-122"/>
                <a:cs typeface="IBM Plex Sans" pitchFamily="34" charset="-120"/>
              </a:rPr>
              <a:t> (</a:t>
            </a:r>
            <a:r>
              <a:rPr lang="en-US" sz="1500" dirty="0" err="1">
                <a:solidFill>
                  <a:srgbClr val="BFD8D5"/>
                </a:solidFill>
                <a:latin typeface="IBM Plex Sans" pitchFamily="34" charset="0"/>
                <a:ea typeface="IBM Plex Sans" pitchFamily="34" charset="-122"/>
                <a:cs typeface="IBM Plex Sans" pitchFamily="34" charset="-120"/>
              </a:rPr>
              <a:t>Ansteuerung</a:t>
            </a:r>
            <a:r>
              <a:rPr lang="en-US" sz="1500" dirty="0">
                <a:solidFill>
                  <a:srgbClr val="BFD8D5"/>
                </a:solidFill>
                <a:latin typeface="IBM Plex Sans" pitchFamily="34" charset="0"/>
                <a:ea typeface="IBM Plex Sans" pitchFamily="34" charset="-122"/>
                <a:cs typeface="IBM Plex Sans" pitchFamily="34" charset="-120"/>
              </a:rPr>
              <a:t>) </a:t>
            </a:r>
            <a:r>
              <a:rPr lang="en-US" sz="1500" dirty="0" err="1">
                <a:solidFill>
                  <a:srgbClr val="BFD8D5"/>
                </a:solidFill>
                <a:latin typeface="IBM Plex Sans" pitchFamily="34" charset="0"/>
                <a:ea typeface="IBM Plex Sans" pitchFamily="34" charset="-122"/>
                <a:cs typeface="IBM Plex Sans" pitchFamily="34" charset="-120"/>
              </a:rPr>
              <a:t>sind</a:t>
            </a:r>
            <a:r>
              <a:rPr lang="en-US" sz="1500" dirty="0">
                <a:solidFill>
                  <a:srgbClr val="BFD8D5"/>
                </a:solidFill>
                <a:latin typeface="IBM Plex Sans" pitchFamily="34" charset="0"/>
                <a:ea typeface="IBM Plex Sans" pitchFamily="34" charset="-122"/>
                <a:cs typeface="IBM Plex Sans" pitchFamily="34" charset="-120"/>
              </a:rPr>
              <a:t> im Projektverlauf ebenfalls im Bereich Elektronik </a:t>
            </a:r>
            <a:r>
              <a:rPr lang="en-US" sz="1500" dirty="0" err="1">
                <a:solidFill>
                  <a:srgbClr val="BFD8D5"/>
                </a:solidFill>
                <a:latin typeface="IBM Plex Sans" pitchFamily="34" charset="0"/>
                <a:ea typeface="IBM Plex Sans" pitchFamily="34" charset="-122"/>
                <a:cs typeface="IBM Plex Sans" pitchFamily="34" charset="-120"/>
              </a:rPr>
              <a:t>angefallen</a:t>
            </a:r>
            <a:r>
              <a:rPr lang="en-US" sz="1500" dirty="0">
                <a:solidFill>
                  <a:srgbClr val="BFD8D5"/>
                </a:solidFill>
                <a:latin typeface="IBM Plex Sans" pitchFamily="34" charset="0"/>
                <a:ea typeface="IBM Plex Sans" pitchFamily="34" charset="-122"/>
                <a:cs typeface="IBM Plex Sans" pitchFamily="34" charset="-120"/>
              </a:rPr>
              <a: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E07A3F"/>
                </a:solidFill>
                <a:latin typeface="JetBrains Mono" pitchFamily="49" charset="0"/>
                <a:ea typeface="JetBrains Mono" pitchFamily="49" charset="-122"/>
                <a:cs typeface="JetBrains Mono" pitchFamily="49" charset="-120"/>
              </a:rPr>
              <a:t>TREIBERPLATINE · SCHALTPLAN</a:t>
            </a:r>
            <a:endParaRPr lang="en-US" sz="1300" dirty="0"/>
          </a:p>
        </p:txBody>
      </p:sp>
      <p:sp>
        <p:nvSpPr>
          <p:cNvPr id="3" name="Text 1"/>
          <p:cNvSpPr>
            <a:spLocks noGrp="1"/>
          </p:cNvSpPr>
          <p:nvPr>
            <p:ph type="title"/>
          </p:nvPr>
        </p:nvSpPr>
        <p:spPr>
          <a:xfrm>
            <a:off x="812800" y="91688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7F8F6"/>
                </a:solidFill>
                <a:latin typeface="IBM Plex Sans" pitchFamily="34" charset="0"/>
                <a:ea typeface="IBM Plex Sans" pitchFamily="34" charset="-122"/>
                <a:cs typeface="IBM Plex Sans" pitchFamily="34" charset="-120"/>
              </a:rPr>
              <a:t>Ein TMC2209 pro Achse</a:t>
            </a:r>
            <a:endParaRPr lang="en-US" sz="2800" dirty="0"/>
          </a:p>
        </p:txBody>
      </p:sp>
      <p:sp>
        <p:nvSpPr>
          <p:cNvPr id="4" name="Shape 2"/>
          <p:cNvSpPr/>
          <p:nvPr/>
        </p:nvSpPr>
        <p:spPr>
          <a:xfrm>
            <a:off x="815975" y="1539776"/>
            <a:ext cx="6724650" cy="3676650"/>
          </a:xfrm>
          <a:prstGeom prst="roundRect">
            <a:avLst>
              <a:gd name="adj" fmla="val 1986"/>
            </a:avLst>
          </a:prstGeom>
          <a:solidFill>
            <a:srgbClr val="F5F4EF"/>
          </a:solidFill>
          <a:ln w="6350">
            <a:solidFill>
              <a:srgbClr val="3A4854"/>
            </a:solidFill>
            <a:prstDash val="solid"/>
          </a:ln>
        </p:spPr>
        <p:txBody>
          <a:bodyPr/>
          <a:lstStyle/>
          <a:p>
            <a:endParaRPr lang="en-US"/>
          </a:p>
        </p:txBody>
      </p:sp>
      <p:sp>
        <p:nvSpPr>
          <p:cNvPr id="5" name="Text 3"/>
          <p:cNvSpPr/>
          <p:nvPr/>
        </p:nvSpPr>
        <p:spPr>
          <a:xfrm>
            <a:off x="7848600" y="1536601"/>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Versorgung</a:t>
            </a:r>
            <a:endParaRPr lang="en-US" sz="1400" dirty="0"/>
          </a:p>
        </p:txBody>
      </p:sp>
      <p:sp>
        <p:nvSpPr>
          <p:cNvPr id="6" name="Text 4"/>
          <p:cNvSpPr/>
          <p:nvPr/>
        </p:nvSpPr>
        <p:spPr>
          <a:xfrm>
            <a:off x="7848600" y="1788021"/>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24 V Motorspannung VM, 3.3 V </a:t>
            </a:r>
            <a:r>
              <a:rPr lang="en-US" sz="1350" dirty="0" err="1">
                <a:solidFill>
                  <a:srgbClr val="BFD8D5"/>
                </a:solidFill>
                <a:latin typeface="IBM Plex Sans" pitchFamily="34" charset="0"/>
                <a:ea typeface="IBM Plex Sans" pitchFamily="34" charset="-122"/>
                <a:cs typeface="IBM Plex Sans" pitchFamily="34" charset="-120"/>
              </a:rPr>
              <a:t>Logikspannung</a:t>
            </a:r>
            <a:r>
              <a:rPr lang="en-US" sz="1350" dirty="0">
                <a:solidFill>
                  <a:srgbClr val="BFD8D5"/>
                </a:solidFill>
                <a:latin typeface="IBM Plex Sans" pitchFamily="34" charset="0"/>
                <a:ea typeface="IBM Plex Sans" pitchFamily="34" charset="-122"/>
                <a:cs typeface="IBM Plex Sans" pitchFamily="34" charset="-120"/>
              </a:rPr>
              <a:t> VIO</a:t>
            </a:r>
            <a:endParaRPr lang="en-US" sz="1350" dirty="0"/>
          </a:p>
        </p:txBody>
      </p:sp>
      <p:sp>
        <p:nvSpPr>
          <p:cNvPr id="7" name="Text 5"/>
          <p:cNvSpPr/>
          <p:nvPr/>
        </p:nvSpPr>
        <p:spPr>
          <a:xfrm>
            <a:off x="7848600" y="2390477"/>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err="1">
                <a:solidFill>
                  <a:srgbClr val="7FB8D8"/>
                </a:solidFill>
                <a:latin typeface="IBM Plex Sans" pitchFamily="34" charset="0"/>
                <a:ea typeface="IBM Plex Sans" pitchFamily="34" charset="-122"/>
                <a:cs typeface="IBM Plex Sans" pitchFamily="34" charset="-120"/>
              </a:rPr>
              <a:t>Betriebsart</a:t>
            </a:r>
            <a:endParaRPr lang="en-US" sz="1400" dirty="0"/>
          </a:p>
        </p:txBody>
      </p:sp>
      <p:sp>
        <p:nvSpPr>
          <p:cNvPr id="8" name="Text 6"/>
          <p:cNvSpPr/>
          <p:nvPr/>
        </p:nvSpPr>
        <p:spPr>
          <a:xfrm>
            <a:off x="7848600" y="2641898"/>
            <a:ext cx="3636518" cy="488156"/>
          </a:xfrm>
          <a:prstGeom prst="rect">
            <a:avLst/>
          </a:prstGeom>
          <a:noFill/>
          <a:ln/>
        </p:spPr>
        <p:txBody>
          <a:bodyPr wrap="square" lIns="0" tIns="0" rIns="0" bIns="0" rtlCol="0" anchor="t">
            <a:normAutofit/>
          </a:bodyPr>
          <a:lstStyle/>
          <a:p>
            <a:r>
              <a:rPr lang="de-DE" sz="1400" dirty="0"/>
              <a:t>Jumper JP1 trennt die UART-Leitung: Betrieb über UART oder klassisch über STEP/DIR</a:t>
            </a:r>
            <a:endParaRPr lang="en-US" sz="1350" dirty="0"/>
          </a:p>
        </p:txBody>
      </p:sp>
      <p:sp>
        <p:nvSpPr>
          <p:cNvPr id="9" name="Text 7"/>
          <p:cNvSpPr/>
          <p:nvPr/>
        </p:nvSpPr>
        <p:spPr>
          <a:xfrm>
            <a:off x="7848600" y="3244354"/>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Schnittstelle</a:t>
            </a:r>
            <a:endParaRPr lang="en-US" sz="1400" dirty="0"/>
          </a:p>
        </p:txBody>
      </p:sp>
      <p:sp>
        <p:nvSpPr>
          <p:cNvPr id="10" name="Text 8"/>
          <p:cNvSpPr/>
          <p:nvPr/>
        </p:nvSpPr>
        <p:spPr>
          <a:xfrm>
            <a:off x="7848600" y="3495774"/>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UART auf einer Leitung, Adresse über MS1 und MS2 gesteckt</a:t>
            </a:r>
            <a:endParaRPr lang="en-US" sz="1350" dirty="0"/>
          </a:p>
        </p:txBody>
      </p:sp>
      <p:sp>
        <p:nvSpPr>
          <p:cNvPr id="11" name="Text 9"/>
          <p:cNvSpPr/>
          <p:nvPr/>
        </p:nvSpPr>
        <p:spPr>
          <a:xfrm>
            <a:off x="7848600" y="4098230"/>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Steckbarkeit</a:t>
            </a:r>
            <a:endParaRPr lang="en-US" sz="1400" dirty="0"/>
          </a:p>
        </p:txBody>
      </p:sp>
      <p:sp>
        <p:nvSpPr>
          <p:cNvPr id="12" name="Text 10"/>
          <p:cNvSpPr/>
          <p:nvPr/>
        </p:nvSpPr>
        <p:spPr>
          <a:xfrm>
            <a:off x="7848600" y="4349651"/>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Alle Signale auf einen Stiftleistenblock geführt, acht Plätze identisch</a:t>
            </a:r>
            <a:endParaRPr lang="en-US" sz="1350" dirty="0"/>
          </a:p>
        </p:txBody>
      </p:sp>
      <p:sp>
        <p:nvSpPr>
          <p:cNvPr id="13" name="Text 11"/>
          <p:cNvSpPr/>
          <p:nvPr/>
        </p:nvSpPr>
        <p:spPr>
          <a:xfrm>
            <a:off x="812800" y="5318224"/>
            <a:ext cx="52922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0"/>
                </a:solidFill>
                <a:latin typeface="IBM Plex Sans" pitchFamily="34" charset="0"/>
                <a:ea typeface="IBM Plex Sans" pitchFamily="34" charset="-122"/>
                <a:cs typeface="IBM Plex Sans" pitchFamily="34" charset="-120"/>
              </a:rPr>
              <a:t>Abbildung: Schaltplan </a:t>
            </a:r>
            <a:r>
              <a:rPr lang="en-US" sz="1200" dirty="0" err="1">
                <a:solidFill>
                  <a:srgbClr val="8FA3B0"/>
                </a:solidFill>
                <a:latin typeface="IBM Plex Sans" pitchFamily="34" charset="0"/>
                <a:ea typeface="IBM Plex Sans" pitchFamily="34" charset="-122"/>
                <a:cs typeface="IBM Plex Sans" pitchFamily="34" charset="-120"/>
              </a:rPr>
              <a:t>Treiberplatine</a:t>
            </a:r>
            <a:r>
              <a:rPr lang="en-US" sz="1200" dirty="0">
                <a:solidFill>
                  <a:srgbClr val="8FA3B0"/>
                </a:solidFill>
                <a:latin typeface="IBM Plex Sans" pitchFamily="34" charset="0"/>
                <a:ea typeface="IBM Plex Sans" pitchFamily="34" charset="-122"/>
                <a:cs typeface="IBM Plex Sans" pitchFamily="34" charset="-120"/>
              </a:rPr>
              <a:t> </a:t>
            </a:r>
            <a:endParaRPr lang="en-US" sz="1200" dirty="0"/>
          </a:p>
        </p:txBody>
      </p:sp>
      <p:pic>
        <p:nvPicPr>
          <p:cNvPr id="15" name="Grafik 14">
            <a:extLst>
              <a:ext uri="{FF2B5EF4-FFF2-40B4-BE49-F238E27FC236}">
                <a16:creationId xmlns:a16="http://schemas.microsoft.com/office/drawing/2014/main" id="{96D5CA44-636D-B841-7CA0-529A1C7B9708}"/>
              </a:ext>
            </a:extLst>
          </p:cNvPr>
          <p:cNvPicPr>
            <a:picLocks noChangeAspect="1"/>
          </p:cNvPicPr>
          <p:nvPr/>
        </p:nvPicPr>
        <p:blipFill>
          <a:blip r:embed="rId3"/>
          <a:stretch>
            <a:fillRect/>
          </a:stretch>
        </p:blipFill>
        <p:spPr>
          <a:xfrm>
            <a:off x="1237372" y="1573040"/>
            <a:ext cx="5881856" cy="36101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29592"/>
          </a:xfrm>
          <a:prstGeom prst="rect">
            <a:avLst/>
          </a:prstGeom>
          <a:noFill/>
          <a:ln/>
        </p:spPr>
        <p:txBody>
          <a:bodyPr wrap="square" lIns="0" tIns="0" rIns="0" bIns="0" rtlCol="0" anchor="t">
            <a:normAutofit/>
          </a:bodyPr>
          <a:lstStyle/>
          <a:p>
            <a:pPr marL="0" indent="0" algn="l">
              <a:lnSpc>
                <a:spcPts val="1621"/>
              </a:lnSpc>
              <a:buNone/>
            </a:pPr>
            <a:r>
              <a:rPr lang="en-US" sz="1158" kern="0" spc="150" dirty="0">
                <a:solidFill>
                  <a:srgbClr val="E07A3F"/>
                </a:solidFill>
                <a:latin typeface="JetBrains Mono" pitchFamily="49" charset="0"/>
                <a:ea typeface="JetBrains Mono" pitchFamily="49" charset="-122"/>
                <a:cs typeface="JetBrains Mono" pitchFamily="49" charset="-120"/>
              </a:rPr>
              <a:t>TREIBERPLATINE · LAYOUT UND AUFBAU</a:t>
            </a:r>
            <a:endParaRPr lang="en-US" sz="1158" dirty="0"/>
          </a:p>
        </p:txBody>
      </p:sp>
      <p:sp>
        <p:nvSpPr>
          <p:cNvPr id="3" name="Text 1"/>
          <p:cNvSpPr>
            <a:spLocks noGrp="1"/>
          </p:cNvSpPr>
          <p:nvPr>
            <p:ph type="title"/>
          </p:nvPr>
        </p:nvSpPr>
        <p:spPr>
          <a:xfrm>
            <a:off x="812800" y="889992"/>
            <a:ext cx="10883392" cy="371177"/>
          </a:xfrm>
          <a:prstGeom prst="rect">
            <a:avLst/>
          </a:prstGeom>
          <a:noFill/>
          <a:ln/>
        </p:spPr>
        <p:txBody>
          <a:bodyPr wrap="square" lIns="0" tIns="0" rIns="0" bIns="0" rtlCol="0" anchor="t">
            <a:normAutofit/>
          </a:bodyPr>
          <a:lstStyle/>
          <a:p>
            <a:pPr marL="0" indent="0" algn="l">
              <a:lnSpc>
                <a:spcPts val="2724"/>
              </a:lnSpc>
              <a:buNone/>
            </a:pPr>
            <a:r>
              <a:rPr lang="en-US" sz="2476" b="1" i="0" dirty="0">
                <a:solidFill>
                  <a:srgbClr val="F7F8F6"/>
                </a:solidFill>
                <a:latin typeface="IBM Plex Sans" pitchFamily="34" charset="0"/>
                <a:ea typeface="IBM Plex Sans" pitchFamily="34" charset="-122"/>
                <a:cs typeface="IBM Plex Sans" pitchFamily="34" charset="-120"/>
              </a:rPr>
              <a:t>Vier Lagen, weil die Wärme weg muss</a:t>
            </a:r>
            <a:endParaRPr lang="en-US" sz="2476" dirty="0"/>
          </a:p>
        </p:txBody>
      </p:sp>
      <p:grpSp>
        <p:nvGrpSpPr>
          <p:cNvPr id="20" name="Gruppieren 19">
            <a:extLst>
              <a:ext uri="{FF2B5EF4-FFF2-40B4-BE49-F238E27FC236}">
                <a16:creationId xmlns:a16="http://schemas.microsoft.com/office/drawing/2014/main" id="{D8CB3785-A593-9C0D-5E59-EB99F2116668}"/>
              </a:ext>
            </a:extLst>
          </p:cNvPr>
          <p:cNvGrpSpPr/>
          <p:nvPr/>
        </p:nvGrpSpPr>
        <p:grpSpPr>
          <a:xfrm>
            <a:off x="4807737" y="3091394"/>
            <a:ext cx="3403600" cy="1170781"/>
            <a:chOff x="812800" y="4671219"/>
            <a:chExt cx="3403600" cy="1170781"/>
          </a:xfrm>
        </p:grpSpPr>
        <p:sp>
          <p:nvSpPr>
            <p:cNvPr id="8" name="Shape 6"/>
            <p:cNvSpPr/>
            <p:nvPr/>
          </p:nvSpPr>
          <p:spPr>
            <a:xfrm>
              <a:off x="812800" y="4671219"/>
              <a:ext cx="3403600" cy="1170781"/>
            </a:xfrm>
            <a:prstGeom prst="roundRect">
              <a:avLst>
                <a:gd name="adj" fmla="val 6508"/>
              </a:avLst>
            </a:prstGeom>
            <a:solidFill>
              <a:srgbClr val="1D2B38"/>
            </a:solidFill>
            <a:ln/>
          </p:spPr>
          <p:txBody>
            <a:bodyPr/>
            <a:lstStyle/>
            <a:p>
              <a:endParaRPr lang="en-US"/>
            </a:p>
          </p:txBody>
        </p:sp>
        <p:sp>
          <p:nvSpPr>
            <p:cNvPr id="9" name="Text 7"/>
            <p:cNvSpPr/>
            <p:nvPr/>
          </p:nvSpPr>
          <p:spPr>
            <a:xfrm>
              <a:off x="1003300" y="4861719"/>
              <a:ext cx="3113278" cy="199231"/>
            </a:xfrm>
            <a:prstGeom prst="rect">
              <a:avLst/>
            </a:prstGeom>
            <a:noFill/>
            <a:ln/>
          </p:spPr>
          <p:txBody>
            <a:bodyPr wrap="square" lIns="0" tIns="0" rIns="0" bIns="0" rtlCol="0" anchor="t">
              <a:normAutofit/>
            </a:bodyPr>
            <a:lstStyle/>
            <a:p>
              <a:pPr marL="0" indent="0" algn="l">
                <a:lnSpc>
                  <a:spcPts val="1372"/>
                </a:lnSpc>
                <a:buNone/>
              </a:pPr>
              <a:r>
                <a:rPr lang="en-US" sz="1143" b="1" dirty="0">
                  <a:solidFill>
                    <a:srgbClr val="E07A3F"/>
                  </a:solidFill>
                  <a:latin typeface="IBM Plex Sans" pitchFamily="34" charset="0"/>
                  <a:ea typeface="IBM Plex Sans" pitchFamily="34" charset="-122"/>
                  <a:cs typeface="IBM Plex Sans" pitchFamily="34" charset="-120"/>
                </a:rPr>
                <a:t>Entwärmung über Vias</a:t>
              </a:r>
              <a:endParaRPr lang="en-US" sz="1143" dirty="0"/>
            </a:p>
          </p:txBody>
        </p:sp>
        <p:sp>
          <p:nvSpPr>
            <p:cNvPr id="10" name="Text 8"/>
            <p:cNvSpPr/>
            <p:nvPr/>
          </p:nvSpPr>
          <p:spPr>
            <a:xfrm>
              <a:off x="1003300" y="5086350"/>
              <a:ext cx="3113278" cy="590550"/>
            </a:xfrm>
            <a:prstGeom prst="rect">
              <a:avLst/>
            </a:prstGeom>
            <a:noFill/>
            <a:ln/>
          </p:spPr>
          <p:txBody>
            <a:bodyPr wrap="square" lIns="0" tIns="0" rIns="0" bIns="0" rtlCol="0" anchor="t">
              <a:normAutofit/>
            </a:bodyPr>
            <a:lstStyle/>
            <a:p>
              <a:pPr marL="0" indent="0" algn="l">
                <a:lnSpc>
                  <a:spcPts val="1552"/>
                </a:lnSpc>
                <a:buNone/>
              </a:pPr>
              <a:r>
                <a:rPr lang="en-US" sz="1150" dirty="0">
                  <a:solidFill>
                    <a:srgbClr val="F7F8F6"/>
                  </a:solidFill>
                  <a:latin typeface="IBM Plex Sans" pitchFamily="34" charset="0"/>
                  <a:ea typeface="IBM Plex Sans" pitchFamily="34" charset="-122"/>
                  <a:cs typeface="IBM Plex Sans" pitchFamily="34" charset="-120"/>
                </a:rPr>
                <a:t>Die </a:t>
              </a:r>
              <a:r>
                <a:rPr lang="en-US" sz="1150" dirty="0" err="1">
                  <a:solidFill>
                    <a:srgbClr val="F7F8F6"/>
                  </a:solidFill>
                  <a:latin typeface="IBM Plex Sans" pitchFamily="34" charset="0"/>
                  <a:ea typeface="IBM Plex Sans" pitchFamily="34" charset="-122"/>
                  <a:cs typeface="IBM Plex Sans" pitchFamily="34" charset="-120"/>
                </a:rPr>
                <a:t>Hitzeabführung</a:t>
              </a:r>
              <a:r>
                <a:rPr lang="en-US" sz="1150" dirty="0">
                  <a:solidFill>
                    <a:srgbClr val="F7F8F6"/>
                  </a:solidFill>
                  <a:latin typeface="IBM Plex Sans" pitchFamily="34" charset="0"/>
                  <a:ea typeface="IBM Plex Sans" pitchFamily="34" charset="-122"/>
                  <a:cs typeface="IBM Plex Sans" pitchFamily="34" charset="-120"/>
                </a:rPr>
                <a:t> </a:t>
              </a:r>
              <a:r>
                <a:rPr lang="en-US" sz="1150" dirty="0" err="1">
                  <a:solidFill>
                    <a:srgbClr val="F7F8F6"/>
                  </a:solidFill>
                  <a:latin typeface="IBM Plex Sans" pitchFamily="34" charset="0"/>
                  <a:ea typeface="IBM Plex Sans" pitchFamily="34" charset="-122"/>
                  <a:cs typeface="IBM Plex Sans" pitchFamily="34" charset="-120"/>
                </a:rPr>
                <a:t>erfolgt</a:t>
              </a:r>
              <a:r>
                <a:rPr lang="en-US" sz="1150" dirty="0">
                  <a:solidFill>
                    <a:srgbClr val="F7F8F6"/>
                  </a:solidFill>
                  <a:latin typeface="IBM Plex Sans" pitchFamily="34" charset="0"/>
                  <a:ea typeface="IBM Plex Sans" pitchFamily="34" charset="-122"/>
                  <a:cs typeface="IBM Plex Sans" pitchFamily="34" charset="-120"/>
                </a:rPr>
                <a:t> </a:t>
              </a:r>
              <a:r>
                <a:rPr lang="en-US" sz="1150" dirty="0" err="1">
                  <a:solidFill>
                    <a:srgbClr val="F7F8F6"/>
                  </a:solidFill>
                  <a:latin typeface="IBM Plex Sans" pitchFamily="34" charset="0"/>
                  <a:ea typeface="IBM Plex Sans" pitchFamily="34" charset="-122"/>
                  <a:cs typeface="IBM Plex Sans" pitchFamily="34" charset="-120"/>
                </a:rPr>
                <a:t>über</a:t>
              </a:r>
              <a:r>
                <a:rPr lang="en-US" sz="1150" dirty="0">
                  <a:solidFill>
                    <a:srgbClr val="F7F8F6"/>
                  </a:solidFill>
                  <a:latin typeface="IBM Plex Sans" pitchFamily="34" charset="0"/>
                  <a:ea typeface="IBM Plex Sans" pitchFamily="34" charset="-122"/>
                  <a:cs typeface="IBM Plex Sans" pitchFamily="34" charset="-120"/>
                </a:rPr>
                <a:t> Vias auf der </a:t>
              </a:r>
              <a:r>
                <a:rPr lang="en-US" sz="1150" dirty="0" err="1">
                  <a:solidFill>
                    <a:srgbClr val="F7F8F6"/>
                  </a:solidFill>
                  <a:latin typeface="IBM Plex Sans" pitchFamily="34" charset="0"/>
                  <a:ea typeface="IBM Plex Sans" pitchFamily="34" charset="-122"/>
                  <a:cs typeface="IBM Plex Sans" pitchFamily="34" charset="-120"/>
                </a:rPr>
                <a:t>Unterseite</a:t>
              </a:r>
              <a:r>
                <a:rPr lang="en-US" sz="1150" dirty="0">
                  <a:solidFill>
                    <a:srgbClr val="F7F8F6"/>
                  </a:solidFill>
                  <a:latin typeface="IBM Plex Sans" pitchFamily="34" charset="0"/>
                  <a:ea typeface="IBM Plex Sans" pitchFamily="34" charset="-122"/>
                  <a:cs typeface="IBM Plex Sans" pitchFamily="34" charset="-120"/>
                </a:rPr>
                <a:t> des IC</a:t>
              </a:r>
              <a:endParaRPr lang="en-US" sz="1150" dirty="0"/>
            </a:p>
          </p:txBody>
        </p:sp>
      </p:grpSp>
      <p:grpSp>
        <p:nvGrpSpPr>
          <p:cNvPr id="21" name="Gruppieren 20">
            <a:extLst>
              <a:ext uri="{FF2B5EF4-FFF2-40B4-BE49-F238E27FC236}">
                <a16:creationId xmlns:a16="http://schemas.microsoft.com/office/drawing/2014/main" id="{B7DD313D-D4B4-ED9C-7939-37AE31CFEFD1}"/>
              </a:ext>
            </a:extLst>
          </p:cNvPr>
          <p:cNvGrpSpPr/>
          <p:nvPr/>
        </p:nvGrpSpPr>
        <p:grpSpPr>
          <a:xfrm>
            <a:off x="4807737" y="1718852"/>
            <a:ext cx="3403600" cy="1170781"/>
            <a:chOff x="4394200" y="4671219"/>
            <a:chExt cx="3403600" cy="1170781"/>
          </a:xfrm>
        </p:grpSpPr>
        <p:sp>
          <p:nvSpPr>
            <p:cNvPr id="11" name="Shape 9"/>
            <p:cNvSpPr/>
            <p:nvPr/>
          </p:nvSpPr>
          <p:spPr>
            <a:xfrm>
              <a:off x="4394200" y="4671219"/>
              <a:ext cx="3403600" cy="1170781"/>
            </a:xfrm>
            <a:prstGeom prst="roundRect">
              <a:avLst>
                <a:gd name="adj" fmla="val 6508"/>
              </a:avLst>
            </a:prstGeom>
            <a:solidFill>
              <a:srgbClr val="1D2B38"/>
            </a:solidFill>
            <a:ln/>
          </p:spPr>
          <p:txBody>
            <a:bodyPr/>
            <a:lstStyle/>
            <a:p>
              <a:endParaRPr lang="en-US"/>
            </a:p>
          </p:txBody>
        </p:sp>
        <p:sp>
          <p:nvSpPr>
            <p:cNvPr id="12" name="Text 10"/>
            <p:cNvSpPr/>
            <p:nvPr/>
          </p:nvSpPr>
          <p:spPr>
            <a:xfrm>
              <a:off x="4584700" y="4861719"/>
              <a:ext cx="3113278" cy="199231"/>
            </a:xfrm>
            <a:prstGeom prst="rect">
              <a:avLst/>
            </a:prstGeom>
            <a:noFill/>
            <a:ln/>
          </p:spPr>
          <p:txBody>
            <a:bodyPr wrap="square" lIns="0" tIns="0" rIns="0" bIns="0" rtlCol="0" anchor="t">
              <a:normAutofit/>
            </a:bodyPr>
            <a:lstStyle/>
            <a:p>
              <a:r>
                <a:rPr lang="de-DE" sz="1143" b="1" dirty="0">
                  <a:solidFill>
                    <a:srgbClr val="E07A3F"/>
                  </a:solidFill>
                  <a:latin typeface="IBM Plex Sans" pitchFamily="34" charset="0"/>
                </a:rPr>
                <a:t>Baugröße 15,5 × 20,4 mm</a:t>
              </a:r>
              <a:endParaRPr lang="en-US" sz="1143" b="1" dirty="0">
                <a:solidFill>
                  <a:srgbClr val="E07A3F"/>
                </a:solidFill>
                <a:latin typeface="IBM Plex Sans" pitchFamily="34" charset="0"/>
              </a:endParaRPr>
            </a:p>
          </p:txBody>
        </p:sp>
        <p:sp>
          <p:nvSpPr>
            <p:cNvPr id="13" name="Text 11"/>
            <p:cNvSpPr/>
            <p:nvPr/>
          </p:nvSpPr>
          <p:spPr>
            <a:xfrm>
              <a:off x="4584700" y="5086350"/>
              <a:ext cx="3113278" cy="590550"/>
            </a:xfrm>
            <a:prstGeom prst="rect">
              <a:avLst/>
            </a:prstGeom>
            <a:noFill/>
            <a:ln/>
          </p:spPr>
          <p:txBody>
            <a:bodyPr wrap="square" lIns="0" tIns="0" rIns="0" bIns="0" rtlCol="0" anchor="t">
              <a:noAutofit/>
            </a:bodyPr>
            <a:lstStyle/>
            <a:p>
              <a:r>
                <a:rPr lang="de-DE" sz="1150" dirty="0"/>
                <a:t>Vierlagig ausgeführt, damit auf der kleinen Fläche Leistungs- und Signalpfade getrennt bleiben</a:t>
              </a:r>
              <a:endParaRPr lang="en-US" sz="1150" dirty="0"/>
            </a:p>
          </p:txBody>
        </p:sp>
      </p:grpSp>
      <p:grpSp>
        <p:nvGrpSpPr>
          <p:cNvPr id="22" name="Gruppieren 21">
            <a:extLst>
              <a:ext uri="{FF2B5EF4-FFF2-40B4-BE49-F238E27FC236}">
                <a16:creationId xmlns:a16="http://schemas.microsoft.com/office/drawing/2014/main" id="{EEF85B04-5E26-DAA5-EB0C-00ED476CE095}"/>
              </a:ext>
            </a:extLst>
          </p:cNvPr>
          <p:cNvGrpSpPr/>
          <p:nvPr/>
        </p:nvGrpSpPr>
        <p:grpSpPr>
          <a:xfrm>
            <a:off x="4807737" y="4463936"/>
            <a:ext cx="3403600" cy="1170781"/>
            <a:chOff x="7975600" y="4671219"/>
            <a:chExt cx="3403600" cy="1170781"/>
          </a:xfrm>
        </p:grpSpPr>
        <p:sp>
          <p:nvSpPr>
            <p:cNvPr id="14" name="Shape 12"/>
            <p:cNvSpPr/>
            <p:nvPr/>
          </p:nvSpPr>
          <p:spPr>
            <a:xfrm>
              <a:off x="7975600" y="4671219"/>
              <a:ext cx="3403600" cy="1170781"/>
            </a:xfrm>
            <a:prstGeom prst="roundRect">
              <a:avLst>
                <a:gd name="adj" fmla="val 6508"/>
              </a:avLst>
            </a:prstGeom>
            <a:solidFill>
              <a:srgbClr val="1D2B38"/>
            </a:solidFill>
            <a:ln/>
          </p:spPr>
          <p:txBody>
            <a:bodyPr/>
            <a:lstStyle/>
            <a:p>
              <a:endParaRPr lang="en-US"/>
            </a:p>
          </p:txBody>
        </p:sp>
        <p:sp>
          <p:nvSpPr>
            <p:cNvPr id="15" name="Text 13"/>
            <p:cNvSpPr/>
            <p:nvPr/>
          </p:nvSpPr>
          <p:spPr>
            <a:xfrm>
              <a:off x="8166100" y="4861719"/>
              <a:ext cx="3113278" cy="199231"/>
            </a:xfrm>
            <a:prstGeom prst="rect">
              <a:avLst/>
            </a:prstGeom>
            <a:noFill/>
            <a:ln/>
          </p:spPr>
          <p:txBody>
            <a:bodyPr wrap="square" lIns="0" tIns="0" rIns="0" bIns="0" rtlCol="0" anchor="t">
              <a:normAutofit/>
            </a:bodyPr>
            <a:lstStyle/>
            <a:p>
              <a:pPr marL="0" indent="0" algn="l">
                <a:lnSpc>
                  <a:spcPts val="1372"/>
                </a:lnSpc>
                <a:buNone/>
              </a:pPr>
              <a:r>
                <a:rPr lang="en-US" sz="1143" b="1" dirty="0">
                  <a:solidFill>
                    <a:srgbClr val="E07A3F"/>
                  </a:solidFill>
                  <a:latin typeface="IBM Plex Sans" pitchFamily="34" charset="0"/>
                  <a:ea typeface="IBM Plex Sans" pitchFamily="34" charset="-122"/>
                  <a:cs typeface="IBM Plex Sans" pitchFamily="34" charset="-120"/>
                </a:rPr>
                <a:t>Was ich ändern würde</a:t>
              </a:r>
              <a:endParaRPr lang="en-US" sz="1143" dirty="0"/>
            </a:p>
          </p:txBody>
        </p:sp>
        <p:sp>
          <p:nvSpPr>
            <p:cNvPr id="16" name="Text 14"/>
            <p:cNvSpPr/>
            <p:nvPr/>
          </p:nvSpPr>
          <p:spPr>
            <a:xfrm>
              <a:off x="8166100" y="5086350"/>
              <a:ext cx="3113278" cy="590550"/>
            </a:xfrm>
            <a:prstGeom prst="rect">
              <a:avLst/>
            </a:prstGeom>
            <a:noFill/>
            <a:ln/>
          </p:spPr>
          <p:txBody>
            <a:bodyPr wrap="square" lIns="0" tIns="0" rIns="0" bIns="0" rtlCol="0" anchor="t">
              <a:normAutofit/>
            </a:bodyPr>
            <a:lstStyle/>
            <a:p>
              <a:pPr marL="0" indent="0" algn="l">
                <a:lnSpc>
                  <a:spcPts val="1503"/>
                </a:lnSpc>
                <a:buNone/>
              </a:pPr>
              <a:r>
                <a:rPr lang="en-US" sz="1150" dirty="0">
                  <a:solidFill>
                    <a:srgbClr val="F7F8F6"/>
                  </a:solidFill>
                  <a:latin typeface="IBM Plex Sans" pitchFamily="34" charset="0"/>
                  <a:ea typeface="IBM Plex Sans" pitchFamily="34" charset="-122"/>
                  <a:cs typeface="IBM Plex Sans" pitchFamily="34" charset="-120"/>
                </a:rPr>
                <a:t>Eine freie Kupferfläche auf der Unterseite direkt unter dem IC </a:t>
              </a:r>
              <a:r>
                <a:rPr lang="en-US" sz="1150" dirty="0" err="1">
                  <a:solidFill>
                    <a:srgbClr val="F7F8F6"/>
                  </a:solidFill>
                  <a:latin typeface="IBM Plex Sans" pitchFamily="34" charset="0"/>
                  <a:ea typeface="IBM Plex Sans" pitchFamily="34" charset="-122"/>
                  <a:cs typeface="IBM Plex Sans" pitchFamily="34" charset="-120"/>
                </a:rPr>
                <a:t>zur</a:t>
              </a:r>
              <a:r>
                <a:rPr lang="en-US" sz="1150" dirty="0">
                  <a:solidFill>
                    <a:srgbClr val="F7F8F6"/>
                  </a:solidFill>
                  <a:latin typeface="IBM Plex Sans" pitchFamily="34" charset="0"/>
                  <a:ea typeface="IBM Plex Sans" pitchFamily="34" charset="-122"/>
                  <a:cs typeface="IBM Plex Sans" pitchFamily="34" charset="-120"/>
                </a:rPr>
                <a:t> </a:t>
              </a:r>
              <a:r>
                <a:rPr lang="en-US" sz="1150" dirty="0" err="1">
                  <a:solidFill>
                    <a:srgbClr val="F7F8F6"/>
                  </a:solidFill>
                  <a:latin typeface="IBM Plex Sans" pitchFamily="34" charset="0"/>
                  <a:ea typeface="IBM Plex Sans" pitchFamily="34" charset="-122"/>
                  <a:cs typeface="IBM Plex Sans" pitchFamily="34" charset="-120"/>
                </a:rPr>
                <a:t>Temperatursenkung</a:t>
              </a:r>
              <a:endParaRPr lang="en-US" sz="1150" dirty="0"/>
            </a:p>
          </p:txBody>
        </p:sp>
      </p:grpSp>
      <p:grpSp>
        <p:nvGrpSpPr>
          <p:cNvPr id="26" name="Gruppieren 25">
            <a:extLst>
              <a:ext uri="{FF2B5EF4-FFF2-40B4-BE49-F238E27FC236}">
                <a16:creationId xmlns:a16="http://schemas.microsoft.com/office/drawing/2014/main" id="{45279C31-42B2-C6D5-08D2-7F52CA47C35F}"/>
              </a:ext>
            </a:extLst>
          </p:cNvPr>
          <p:cNvGrpSpPr/>
          <p:nvPr/>
        </p:nvGrpSpPr>
        <p:grpSpPr>
          <a:xfrm>
            <a:off x="521687" y="1680392"/>
            <a:ext cx="4086860" cy="4287616"/>
            <a:chOff x="815975" y="1467544"/>
            <a:chExt cx="4086860" cy="4287616"/>
          </a:xfrm>
        </p:grpSpPr>
        <p:sp>
          <p:nvSpPr>
            <p:cNvPr id="4" name="Shape 2"/>
            <p:cNvSpPr/>
            <p:nvPr/>
          </p:nvSpPr>
          <p:spPr>
            <a:xfrm>
              <a:off x="815975" y="1467544"/>
              <a:ext cx="4086860" cy="3942655"/>
            </a:xfrm>
            <a:prstGeom prst="roundRect">
              <a:avLst>
                <a:gd name="adj" fmla="val 2747"/>
              </a:avLst>
            </a:prstGeom>
            <a:solidFill>
              <a:srgbClr val="243441"/>
            </a:solidFill>
            <a:ln w="6350">
              <a:solidFill>
                <a:srgbClr val="3A4854"/>
              </a:solidFill>
              <a:prstDash val="solid"/>
            </a:ln>
          </p:spPr>
          <p:txBody>
            <a:bodyPr/>
            <a:lstStyle/>
            <a:p>
              <a:endParaRPr lang="en-US"/>
            </a:p>
          </p:txBody>
        </p:sp>
        <p:sp>
          <p:nvSpPr>
            <p:cNvPr id="5" name="Text 3"/>
            <p:cNvSpPr/>
            <p:nvPr/>
          </p:nvSpPr>
          <p:spPr>
            <a:xfrm>
              <a:off x="815975" y="5530826"/>
              <a:ext cx="4086860" cy="224334"/>
            </a:xfrm>
            <a:prstGeom prst="rect">
              <a:avLst/>
            </a:prstGeom>
            <a:noFill/>
            <a:ln/>
          </p:spPr>
          <p:txBody>
            <a:bodyPr wrap="square" lIns="0" tIns="0" rIns="0" bIns="0" rtlCol="0" anchor="t">
              <a:normAutofit/>
            </a:bodyPr>
            <a:lstStyle/>
            <a:p>
              <a:pPr marL="0" indent="0" algn="l">
                <a:lnSpc>
                  <a:spcPts val="1574"/>
                </a:lnSpc>
                <a:buNone/>
              </a:pPr>
              <a:r>
                <a:rPr lang="en-US" sz="1166" dirty="0">
                  <a:solidFill>
                    <a:srgbClr val="8FA3B0"/>
                  </a:solidFill>
                  <a:latin typeface="IBM Plex Sans" pitchFamily="34" charset="0"/>
                  <a:ea typeface="IBM Plex Sans" pitchFamily="34" charset="-122"/>
                  <a:cs typeface="IBM Plex Sans" pitchFamily="34" charset="-120"/>
                </a:rPr>
                <a:t>Layout · alle 4 Layer</a:t>
              </a:r>
              <a:endParaRPr lang="en-US" sz="1166" dirty="0"/>
            </a:p>
          </p:txBody>
        </p:sp>
        <p:pic>
          <p:nvPicPr>
            <p:cNvPr id="19" name="Grafik 18">
              <a:extLst>
                <a:ext uri="{FF2B5EF4-FFF2-40B4-BE49-F238E27FC236}">
                  <a16:creationId xmlns:a16="http://schemas.microsoft.com/office/drawing/2014/main" id="{59E109D0-0348-DF30-369A-56B77033E661}"/>
                </a:ext>
              </a:extLst>
            </p:cNvPr>
            <p:cNvPicPr>
              <a:picLocks noChangeAspect="1"/>
            </p:cNvPicPr>
            <p:nvPr/>
          </p:nvPicPr>
          <p:blipFill>
            <a:blip r:embed="rId3"/>
            <a:stretch>
              <a:fillRect/>
            </a:stretch>
          </p:blipFill>
          <p:spPr>
            <a:xfrm>
              <a:off x="1246251" y="1511300"/>
              <a:ext cx="3200400" cy="3835400"/>
            </a:xfrm>
            <a:prstGeom prst="rect">
              <a:avLst/>
            </a:prstGeom>
          </p:spPr>
        </p:pic>
      </p:grpSp>
      <p:grpSp>
        <p:nvGrpSpPr>
          <p:cNvPr id="25" name="Gruppieren 24">
            <a:extLst>
              <a:ext uri="{FF2B5EF4-FFF2-40B4-BE49-F238E27FC236}">
                <a16:creationId xmlns:a16="http://schemas.microsoft.com/office/drawing/2014/main" id="{B24B8C33-5B83-82F6-29A2-1376B4CB54CF}"/>
              </a:ext>
            </a:extLst>
          </p:cNvPr>
          <p:cNvGrpSpPr/>
          <p:nvPr/>
        </p:nvGrpSpPr>
        <p:grpSpPr>
          <a:xfrm>
            <a:off x="8410527" y="1725350"/>
            <a:ext cx="3781473" cy="2852528"/>
            <a:chOff x="6350001" y="3478412"/>
            <a:chExt cx="3975099" cy="2998588"/>
          </a:xfrm>
        </p:grpSpPr>
        <p:sp>
          <p:nvSpPr>
            <p:cNvPr id="6" name="Shape 4"/>
            <p:cNvSpPr/>
            <p:nvPr/>
          </p:nvSpPr>
          <p:spPr>
            <a:xfrm>
              <a:off x="6353175" y="3478412"/>
              <a:ext cx="3543300" cy="2658666"/>
            </a:xfrm>
            <a:prstGeom prst="roundRect">
              <a:avLst>
                <a:gd name="adj" fmla="val 2747"/>
              </a:avLst>
            </a:prstGeom>
            <a:solidFill>
              <a:srgbClr val="243441"/>
            </a:solidFill>
            <a:ln w="6350">
              <a:solidFill>
                <a:srgbClr val="3A4854"/>
              </a:solidFill>
              <a:prstDash val="solid"/>
            </a:ln>
          </p:spPr>
          <p:txBody>
            <a:bodyPr/>
            <a:lstStyle/>
            <a:p>
              <a:endParaRPr lang="en-US"/>
            </a:p>
          </p:txBody>
        </p:sp>
        <p:sp>
          <p:nvSpPr>
            <p:cNvPr id="7" name="Text 5"/>
            <p:cNvSpPr/>
            <p:nvPr/>
          </p:nvSpPr>
          <p:spPr>
            <a:xfrm>
              <a:off x="6350001" y="6254552"/>
              <a:ext cx="3975099" cy="222448"/>
            </a:xfrm>
            <a:prstGeom prst="rect">
              <a:avLst/>
            </a:prstGeom>
            <a:noFill/>
            <a:ln/>
          </p:spPr>
          <p:txBody>
            <a:bodyPr wrap="square" lIns="0" tIns="0" rIns="0" bIns="0" rtlCol="0" anchor="t">
              <a:normAutofit fontScale="92500"/>
            </a:bodyPr>
            <a:lstStyle/>
            <a:p>
              <a:pPr marL="0" indent="0" algn="l">
                <a:lnSpc>
                  <a:spcPts val="1574"/>
                </a:lnSpc>
                <a:buNone/>
              </a:pPr>
              <a:r>
                <a:rPr lang="en-US" sz="1166" dirty="0">
                  <a:solidFill>
                    <a:srgbClr val="8FA3B0"/>
                  </a:solidFill>
                  <a:latin typeface="IBM Plex Sans" pitchFamily="34" charset="0"/>
                  <a:ea typeface="IBM Plex Sans" pitchFamily="34" charset="-122"/>
                  <a:cs typeface="IBM Plex Sans" pitchFamily="34" charset="-120"/>
                </a:rPr>
                <a:t>Bestückte Platine · Steckmodul im Format der Steckplätze</a:t>
              </a:r>
              <a:endParaRPr lang="en-US" sz="1166" dirty="0"/>
            </a:p>
          </p:txBody>
        </p:sp>
        <p:pic>
          <p:nvPicPr>
            <p:cNvPr id="24" name="Grafik 23">
              <a:extLst>
                <a:ext uri="{FF2B5EF4-FFF2-40B4-BE49-F238E27FC236}">
                  <a16:creationId xmlns:a16="http://schemas.microsoft.com/office/drawing/2014/main" id="{B1B6C06E-69A6-9155-CE40-887A2A361CBA}"/>
                </a:ext>
              </a:extLst>
            </p:cNvPr>
            <p:cNvPicPr>
              <a:picLocks noChangeAspect="1"/>
            </p:cNvPicPr>
            <p:nvPr/>
          </p:nvPicPr>
          <p:blipFill>
            <a:blip r:embed="rId4"/>
            <a:stretch>
              <a:fillRect/>
            </a:stretch>
          </p:blipFill>
          <p:spPr>
            <a:xfrm>
              <a:off x="6557137" y="3521769"/>
              <a:ext cx="3179576" cy="2567683"/>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5202B"/>
        </a:solidFill>
        <a:effectLst/>
      </p:bgPr>
    </p:bg>
    <p:spTree>
      <p:nvGrpSpPr>
        <p:cNvPr id="1" name=""/>
        <p:cNvGrpSpPr/>
        <p:nvPr/>
      </p:nvGrpSpPr>
      <p:grpSpPr>
        <a:xfrm>
          <a:off x="0" y="0"/>
          <a:ext cx="0" cy="0"/>
          <a:chOff x="0" y="0"/>
          <a:chExt cx="0" cy="0"/>
        </a:xfrm>
      </p:grpSpPr>
      <p:sp>
        <p:nvSpPr>
          <p:cNvPr id="4" name="Shape 2"/>
          <p:cNvSpPr/>
          <p:nvPr/>
        </p:nvSpPr>
        <p:spPr>
          <a:xfrm>
            <a:off x="2336800" y="1408015"/>
            <a:ext cx="7518400" cy="4937225"/>
          </a:xfrm>
          <a:prstGeom prst="roundRect">
            <a:avLst>
              <a:gd name="adj" fmla="val 1986"/>
            </a:avLst>
          </a:prstGeom>
          <a:solidFill>
            <a:srgbClr val="FFFFFF"/>
          </a:solidFill>
          <a:ln w="6350">
            <a:solidFill>
              <a:srgbClr val="3A4854"/>
            </a:solidFill>
            <a:prstDash val="solid"/>
          </a:ln>
        </p:spPr>
        <p:txBody>
          <a:bodyPr/>
          <a:lstStyle/>
          <a:p>
            <a:endParaRPr lang="en-US"/>
          </a:p>
        </p:txBody>
      </p:sp>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E07A3F"/>
                </a:solidFill>
                <a:latin typeface="JetBrains Mono" pitchFamily="49" charset="0"/>
                <a:ea typeface="JetBrains Mono" pitchFamily="49" charset="-122"/>
                <a:cs typeface="JetBrains Mono" pitchFamily="49" charset="-120"/>
              </a:rPr>
              <a:t>MAINBOARD · SCHALTPLAN</a:t>
            </a:r>
            <a:endParaRPr lang="en-US" sz="1300" dirty="0"/>
          </a:p>
        </p:txBody>
      </p:sp>
      <p:sp>
        <p:nvSpPr>
          <p:cNvPr id="3" name="Text 1"/>
          <p:cNvSpPr>
            <a:spLocks noGrp="1"/>
          </p:cNvSpPr>
          <p:nvPr>
            <p:ph type="title"/>
          </p:nvPr>
        </p:nvSpPr>
        <p:spPr>
          <a:xfrm>
            <a:off x="812800" y="91688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7F8F6"/>
                </a:solidFill>
                <a:latin typeface="IBM Plex Sans" pitchFamily="34" charset="0"/>
                <a:ea typeface="IBM Plex Sans" pitchFamily="34" charset="-122"/>
                <a:cs typeface="IBM Plex Sans" pitchFamily="34" charset="-120"/>
              </a:rPr>
              <a:t>Versorgung, Steuerung, Leistung auf einer Platine</a:t>
            </a:r>
            <a:endParaRPr lang="en-US" sz="2800" dirty="0"/>
          </a:p>
        </p:txBody>
      </p:sp>
      <p:sp>
        <p:nvSpPr>
          <p:cNvPr id="14" name="Text 12"/>
          <p:cNvSpPr/>
          <p:nvPr/>
        </p:nvSpPr>
        <p:spPr>
          <a:xfrm>
            <a:off x="2844800" y="6396040"/>
            <a:ext cx="55709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0"/>
                </a:solidFill>
                <a:latin typeface="IBM Plex Sans" pitchFamily="34" charset="0"/>
                <a:ea typeface="IBM Plex Sans" pitchFamily="34" charset="-122"/>
                <a:cs typeface="IBM Plex Sans" pitchFamily="34" charset="-120"/>
              </a:rPr>
              <a:t>Abbildung: Mainboard-Schaltplan, Ausschnitt Spannungsversorgung</a:t>
            </a:r>
            <a:endParaRPr lang="en-US" sz="1200" dirty="0"/>
          </a:p>
        </p:txBody>
      </p:sp>
      <p:pic>
        <p:nvPicPr>
          <p:cNvPr id="23" name="Grafik 22">
            <a:extLst>
              <a:ext uri="{FF2B5EF4-FFF2-40B4-BE49-F238E27FC236}">
                <a16:creationId xmlns:a16="http://schemas.microsoft.com/office/drawing/2014/main" id="{B3C69A50-CE74-0419-E463-5082593A69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30399" y="1431830"/>
            <a:ext cx="6920002" cy="48922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202B"/>
        </a:solidFill>
        <a:effectLst/>
      </p:bgPr>
    </p:bg>
    <p:spTree>
      <p:nvGrpSpPr>
        <p:cNvPr id="1" name="">
          <a:extLst>
            <a:ext uri="{FF2B5EF4-FFF2-40B4-BE49-F238E27FC236}">
              <a16:creationId xmlns:a16="http://schemas.microsoft.com/office/drawing/2014/main" id="{15A96933-7AFC-6432-85A5-D7AA79EA91D5}"/>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CDAAC31D-0117-6EF3-62E7-56AC309FE70A}"/>
              </a:ext>
            </a:extLst>
          </p:cNvPr>
          <p:cNvSpPr/>
          <p:nvPr/>
        </p:nvSpPr>
        <p:spPr>
          <a:xfrm>
            <a:off x="815975" y="1539775"/>
            <a:ext cx="6724650" cy="4622899"/>
          </a:xfrm>
          <a:prstGeom prst="roundRect">
            <a:avLst>
              <a:gd name="adj" fmla="val 1986"/>
            </a:avLst>
          </a:prstGeom>
          <a:solidFill>
            <a:srgbClr val="FFFFFF"/>
          </a:solidFill>
          <a:ln w="6350">
            <a:solidFill>
              <a:srgbClr val="3A4854"/>
            </a:solidFill>
            <a:prstDash val="solid"/>
          </a:ln>
        </p:spPr>
        <p:txBody>
          <a:bodyPr/>
          <a:lstStyle/>
          <a:p>
            <a:endParaRPr lang="en-US" dirty="0"/>
          </a:p>
        </p:txBody>
      </p:sp>
      <p:sp>
        <p:nvSpPr>
          <p:cNvPr id="2" name="Text 0">
            <a:extLst>
              <a:ext uri="{FF2B5EF4-FFF2-40B4-BE49-F238E27FC236}">
                <a16:creationId xmlns:a16="http://schemas.microsoft.com/office/drawing/2014/main" id="{4391B475-6FBB-42BF-8C31-2312341E51EB}"/>
              </a:ext>
            </a:extLst>
          </p:cNvPr>
          <p:cNvSpPr/>
          <p:nvPr/>
        </p:nvSpPr>
        <p:spPr>
          <a:xfrm>
            <a:off x="812800" y="6096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E07A3F"/>
                </a:solidFill>
                <a:latin typeface="JetBrains Mono" pitchFamily="49" charset="0"/>
                <a:ea typeface="JetBrains Mono" pitchFamily="49" charset="-122"/>
                <a:cs typeface="JetBrains Mono" pitchFamily="49" charset="-120"/>
              </a:rPr>
              <a:t>MAINBOARD · SCHALTPLAN</a:t>
            </a:r>
            <a:endParaRPr lang="en-US" sz="1300" dirty="0"/>
          </a:p>
        </p:txBody>
      </p:sp>
      <p:sp>
        <p:nvSpPr>
          <p:cNvPr id="3" name="Text 1">
            <a:extLst>
              <a:ext uri="{FF2B5EF4-FFF2-40B4-BE49-F238E27FC236}">
                <a16:creationId xmlns:a16="http://schemas.microsoft.com/office/drawing/2014/main" id="{FB443256-4044-80B3-3B9E-9D5AB0852EB7}"/>
              </a:ext>
            </a:extLst>
          </p:cNvPr>
          <p:cNvSpPr>
            <a:spLocks noGrp="1"/>
          </p:cNvSpPr>
          <p:nvPr>
            <p:ph type="title"/>
          </p:nvPr>
        </p:nvSpPr>
        <p:spPr>
          <a:xfrm>
            <a:off x="812800" y="91688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7F8F6"/>
                </a:solidFill>
                <a:latin typeface="IBM Plex Sans" pitchFamily="34" charset="0"/>
                <a:ea typeface="IBM Plex Sans" pitchFamily="34" charset="-122"/>
                <a:cs typeface="IBM Plex Sans" pitchFamily="34" charset="-120"/>
              </a:rPr>
              <a:t>Versorgung, Steuerung, Leistung auf einer Platine</a:t>
            </a:r>
            <a:endParaRPr lang="en-US" sz="2800" dirty="0"/>
          </a:p>
        </p:txBody>
      </p:sp>
      <p:sp>
        <p:nvSpPr>
          <p:cNvPr id="5" name="Text 3">
            <a:extLst>
              <a:ext uri="{FF2B5EF4-FFF2-40B4-BE49-F238E27FC236}">
                <a16:creationId xmlns:a16="http://schemas.microsoft.com/office/drawing/2014/main" id="{B3A51731-2451-903C-5425-0CC6C8B3324F}"/>
              </a:ext>
            </a:extLst>
          </p:cNvPr>
          <p:cNvSpPr/>
          <p:nvPr/>
        </p:nvSpPr>
        <p:spPr>
          <a:xfrm>
            <a:off x="7848600" y="1536601"/>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Spannungsversorgung</a:t>
            </a:r>
            <a:endParaRPr lang="en-US" sz="1400" dirty="0"/>
          </a:p>
        </p:txBody>
      </p:sp>
      <p:sp>
        <p:nvSpPr>
          <p:cNvPr id="6" name="Text 4">
            <a:extLst>
              <a:ext uri="{FF2B5EF4-FFF2-40B4-BE49-F238E27FC236}">
                <a16:creationId xmlns:a16="http://schemas.microsoft.com/office/drawing/2014/main" id="{817FDB3D-6E6D-7172-249B-28C97513F7CC}"/>
              </a:ext>
            </a:extLst>
          </p:cNvPr>
          <p:cNvSpPr/>
          <p:nvPr/>
        </p:nvSpPr>
        <p:spPr>
          <a:xfrm>
            <a:off x="7848600" y="1788021"/>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24 V Eingang, Abwärtsregler auf 5 V, daraus 3,3 V für die Logik</a:t>
            </a:r>
            <a:endParaRPr lang="en-US" sz="1350" dirty="0"/>
          </a:p>
        </p:txBody>
      </p:sp>
      <p:sp>
        <p:nvSpPr>
          <p:cNvPr id="7" name="Text 5">
            <a:extLst>
              <a:ext uri="{FF2B5EF4-FFF2-40B4-BE49-F238E27FC236}">
                <a16:creationId xmlns:a16="http://schemas.microsoft.com/office/drawing/2014/main" id="{33D067AD-4A23-FDF1-A8D9-ADEBAD61D7E0}"/>
              </a:ext>
            </a:extLst>
          </p:cNvPr>
          <p:cNvSpPr/>
          <p:nvPr/>
        </p:nvSpPr>
        <p:spPr>
          <a:xfrm>
            <a:off x="7848600" y="2377777"/>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Mikrocontroller</a:t>
            </a:r>
            <a:endParaRPr lang="en-US" sz="1400" dirty="0"/>
          </a:p>
        </p:txBody>
      </p:sp>
      <p:sp>
        <p:nvSpPr>
          <p:cNvPr id="8" name="Text 6">
            <a:extLst>
              <a:ext uri="{FF2B5EF4-FFF2-40B4-BE49-F238E27FC236}">
                <a16:creationId xmlns:a16="http://schemas.microsoft.com/office/drawing/2014/main" id="{288A5F8A-E086-0096-433A-23413AFB0797}"/>
              </a:ext>
            </a:extLst>
          </p:cNvPr>
          <p:cNvSpPr/>
          <p:nvPr/>
        </p:nvSpPr>
        <p:spPr>
          <a:xfrm>
            <a:off x="7848600" y="2629198"/>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STM32F446RE als Nucleo-Modul, Programmierung und Debug über ST-Link</a:t>
            </a:r>
            <a:endParaRPr lang="en-US" sz="1350" dirty="0"/>
          </a:p>
        </p:txBody>
      </p:sp>
      <p:sp>
        <p:nvSpPr>
          <p:cNvPr id="9" name="Text 7">
            <a:extLst>
              <a:ext uri="{FF2B5EF4-FFF2-40B4-BE49-F238E27FC236}">
                <a16:creationId xmlns:a16="http://schemas.microsoft.com/office/drawing/2014/main" id="{A4579429-7BE5-A800-6521-0A8E114D210C}"/>
              </a:ext>
            </a:extLst>
          </p:cNvPr>
          <p:cNvSpPr/>
          <p:nvPr/>
        </p:nvSpPr>
        <p:spPr>
          <a:xfrm>
            <a:off x="7848600" y="3218954"/>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Leistungsteil</a:t>
            </a:r>
            <a:endParaRPr lang="en-US" sz="1400" dirty="0"/>
          </a:p>
        </p:txBody>
      </p:sp>
      <p:sp>
        <p:nvSpPr>
          <p:cNvPr id="10" name="Text 8">
            <a:extLst>
              <a:ext uri="{FF2B5EF4-FFF2-40B4-BE49-F238E27FC236}">
                <a16:creationId xmlns:a16="http://schemas.microsoft.com/office/drawing/2014/main" id="{E71D4F55-DA1C-84C6-E389-79ACEF720A3F}"/>
              </a:ext>
            </a:extLst>
          </p:cNvPr>
          <p:cNvSpPr/>
          <p:nvPr/>
        </p:nvSpPr>
        <p:spPr>
          <a:xfrm>
            <a:off x="7848600" y="3470374"/>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Hotend und Bett über Low-Side-MOSFETs mit Gate-Treiber, 2 PWM-Lüfterkanäle</a:t>
            </a:r>
            <a:endParaRPr lang="en-US" sz="1350" dirty="0"/>
          </a:p>
        </p:txBody>
      </p:sp>
      <p:sp>
        <p:nvSpPr>
          <p:cNvPr id="11" name="Shape 9">
            <a:extLst>
              <a:ext uri="{FF2B5EF4-FFF2-40B4-BE49-F238E27FC236}">
                <a16:creationId xmlns:a16="http://schemas.microsoft.com/office/drawing/2014/main" id="{37231506-7CEA-6F97-84DD-86CA8F8EA7CF}"/>
              </a:ext>
            </a:extLst>
          </p:cNvPr>
          <p:cNvSpPr/>
          <p:nvPr/>
        </p:nvSpPr>
        <p:spPr>
          <a:xfrm>
            <a:off x="7848600" y="4060130"/>
            <a:ext cx="3530600" cy="1293316"/>
          </a:xfrm>
          <a:prstGeom prst="roundRect">
            <a:avLst>
              <a:gd name="adj" fmla="val 5892"/>
            </a:avLst>
          </a:prstGeom>
          <a:solidFill>
            <a:srgbClr val="E07A3F"/>
          </a:solidFill>
          <a:ln/>
        </p:spPr>
        <p:txBody>
          <a:bodyPr/>
          <a:lstStyle/>
          <a:p>
            <a:endParaRPr lang="en-US"/>
          </a:p>
        </p:txBody>
      </p:sp>
      <p:sp>
        <p:nvSpPr>
          <p:cNvPr id="12" name="Text 10">
            <a:extLst>
              <a:ext uri="{FF2B5EF4-FFF2-40B4-BE49-F238E27FC236}">
                <a16:creationId xmlns:a16="http://schemas.microsoft.com/office/drawing/2014/main" id="{059B27F9-3D5E-FFC8-3111-EDDD2B93A6CD}"/>
              </a:ext>
            </a:extLst>
          </p:cNvPr>
          <p:cNvSpPr/>
          <p:nvPr/>
        </p:nvSpPr>
        <p:spPr>
          <a:xfrm>
            <a:off x="8026400" y="4237930"/>
            <a:ext cx="327025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15202B"/>
                </a:solidFill>
                <a:latin typeface="IBM Plex Sans" pitchFamily="34" charset="0"/>
                <a:ea typeface="IBM Plex Sans" pitchFamily="34" charset="-122"/>
                <a:cs typeface="IBM Plex Sans" pitchFamily="34" charset="-120"/>
              </a:rPr>
              <a:t>Der Teiler am Enable-Pin</a:t>
            </a:r>
            <a:endParaRPr lang="en-US" sz="1350" dirty="0"/>
          </a:p>
        </p:txBody>
      </p:sp>
      <p:sp>
        <p:nvSpPr>
          <p:cNvPr id="13" name="Text 11">
            <a:extLst>
              <a:ext uri="{FF2B5EF4-FFF2-40B4-BE49-F238E27FC236}">
                <a16:creationId xmlns:a16="http://schemas.microsoft.com/office/drawing/2014/main" id="{473EAEBA-5985-365E-5DED-4B6A7A36A275}"/>
              </a:ext>
            </a:extLst>
          </p:cNvPr>
          <p:cNvSpPr/>
          <p:nvPr/>
        </p:nvSpPr>
        <p:spPr>
          <a:xfrm>
            <a:off x="8026400" y="4507111"/>
            <a:ext cx="327025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5202B"/>
                </a:solidFill>
                <a:latin typeface="IBM Plex Sans" pitchFamily="34" charset="0"/>
                <a:ea typeface="IBM Plex Sans" pitchFamily="34" charset="-122"/>
                <a:cs typeface="IBM Plex Sans" pitchFamily="34" charset="-120"/>
              </a:rPr>
              <a:t>Gibt die 3,3 V erst bei rund 12,6 V Motorspannung frei — damit VM immer vor VIO anliegt</a:t>
            </a:r>
            <a:endParaRPr lang="en-US" sz="1300" dirty="0"/>
          </a:p>
        </p:txBody>
      </p:sp>
      <p:sp>
        <p:nvSpPr>
          <p:cNvPr id="14" name="Text 12">
            <a:extLst>
              <a:ext uri="{FF2B5EF4-FFF2-40B4-BE49-F238E27FC236}">
                <a16:creationId xmlns:a16="http://schemas.microsoft.com/office/drawing/2014/main" id="{F716596F-C8BC-26AE-C6A1-5DAD4ED2F80A}"/>
              </a:ext>
            </a:extLst>
          </p:cNvPr>
          <p:cNvSpPr/>
          <p:nvPr/>
        </p:nvSpPr>
        <p:spPr>
          <a:xfrm>
            <a:off x="812800" y="6238280"/>
            <a:ext cx="55709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0"/>
                </a:solidFill>
                <a:latin typeface="IBM Plex Sans" pitchFamily="34" charset="0"/>
                <a:ea typeface="IBM Plex Sans" pitchFamily="34" charset="-122"/>
                <a:cs typeface="IBM Plex Sans" pitchFamily="34" charset="-120"/>
              </a:rPr>
              <a:t>Abbildung: Mainboard-Schaltplan, Ausschnitt Spannungsversorgung</a:t>
            </a:r>
            <a:endParaRPr lang="en-US" sz="1200" dirty="0"/>
          </a:p>
        </p:txBody>
      </p:sp>
      <p:pic>
        <p:nvPicPr>
          <p:cNvPr id="23" name="Grafik 22">
            <a:extLst>
              <a:ext uri="{FF2B5EF4-FFF2-40B4-BE49-F238E27FC236}">
                <a16:creationId xmlns:a16="http://schemas.microsoft.com/office/drawing/2014/main" id="{FDAD1E44-34F3-1556-8327-7013420D18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833352" y="-8935858"/>
            <a:ext cx="25279352" cy="17871715"/>
          </a:xfrm>
          <a:prstGeom prst="rect">
            <a:avLst/>
          </a:prstGeom>
        </p:spPr>
      </p:pic>
    </p:spTree>
    <p:extLst>
      <p:ext uri="{BB962C8B-B14F-4D97-AF65-F5344CB8AC3E}">
        <p14:creationId xmlns:p14="http://schemas.microsoft.com/office/powerpoint/2010/main" val="3916305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202B"/>
        </a:solidFill>
        <a:effectLst/>
      </p:bgPr>
    </p:bg>
    <p:spTree>
      <p:nvGrpSpPr>
        <p:cNvPr id="1" name="">
          <a:extLst>
            <a:ext uri="{FF2B5EF4-FFF2-40B4-BE49-F238E27FC236}">
              <a16:creationId xmlns:a16="http://schemas.microsoft.com/office/drawing/2014/main" id="{E99D7815-9F82-36E7-A70B-D0FBFB677067}"/>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714B7B23-A8BE-0A80-379A-7F9216C2040C}"/>
              </a:ext>
            </a:extLst>
          </p:cNvPr>
          <p:cNvSpPr/>
          <p:nvPr/>
        </p:nvSpPr>
        <p:spPr>
          <a:xfrm>
            <a:off x="815975" y="1539775"/>
            <a:ext cx="6724650" cy="4622899"/>
          </a:xfrm>
          <a:prstGeom prst="roundRect">
            <a:avLst>
              <a:gd name="adj" fmla="val 1986"/>
            </a:avLst>
          </a:prstGeom>
          <a:solidFill>
            <a:srgbClr val="FFFFFF"/>
          </a:solidFill>
          <a:ln w="6350">
            <a:solidFill>
              <a:srgbClr val="3A4854"/>
            </a:solidFill>
            <a:prstDash val="solid"/>
          </a:ln>
        </p:spPr>
        <p:txBody>
          <a:bodyPr/>
          <a:lstStyle/>
          <a:p>
            <a:endParaRPr lang="en-US" dirty="0"/>
          </a:p>
        </p:txBody>
      </p:sp>
      <p:sp>
        <p:nvSpPr>
          <p:cNvPr id="2" name="Text 0">
            <a:extLst>
              <a:ext uri="{FF2B5EF4-FFF2-40B4-BE49-F238E27FC236}">
                <a16:creationId xmlns:a16="http://schemas.microsoft.com/office/drawing/2014/main" id="{59B7849E-8846-6033-8AE6-13286179C7F0}"/>
              </a:ext>
            </a:extLst>
          </p:cNvPr>
          <p:cNvSpPr/>
          <p:nvPr/>
        </p:nvSpPr>
        <p:spPr>
          <a:xfrm>
            <a:off x="812800" y="6096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E07A3F"/>
                </a:solidFill>
                <a:latin typeface="JetBrains Mono" pitchFamily="49" charset="0"/>
                <a:ea typeface="JetBrains Mono" pitchFamily="49" charset="-122"/>
                <a:cs typeface="JetBrains Mono" pitchFamily="49" charset="-120"/>
              </a:rPr>
              <a:t>MAINBOARD · SCHALTPLAN</a:t>
            </a:r>
            <a:endParaRPr lang="en-US" sz="1300" dirty="0"/>
          </a:p>
        </p:txBody>
      </p:sp>
      <p:sp>
        <p:nvSpPr>
          <p:cNvPr id="3" name="Text 1">
            <a:extLst>
              <a:ext uri="{FF2B5EF4-FFF2-40B4-BE49-F238E27FC236}">
                <a16:creationId xmlns:a16="http://schemas.microsoft.com/office/drawing/2014/main" id="{41F70452-ECC3-0EA1-D0E7-55BED73B5735}"/>
              </a:ext>
            </a:extLst>
          </p:cNvPr>
          <p:cNvSpPr>
            <a:spLocks noGrp="1"/>
          </p:cNvSpPr>
          <p:nvPr>
            <p:ph type="title"/>
          </p:nvPr>
        </p:nvSpPr>
        <p:spPr>
          <a:xfrm>
            <a:off x="812800" y="91688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7F8F6"/>
                </a:solidFill>
                <a:latin typeface="IBM Plex Sans" pitchFamily="34" charset="0"/>
                <a:ea typeface="IBM Plex Sans" pitchFamily="34" charset="-122"/>
                <a:cs typeface="IBM Plex Sans" pitchFamily="34" charset="-120"/>
              </a:rPr>
              <a:t>Versorgung, Steuerung, Leistung auf einer Platine</a:t>
            </a:r>
            <a:endParaRPr lang="en-US" sz="2800" dirty="0"/>
          </a:p>
        </p:txBody>
      </p:sp>
      <p:sp>
        <p:nvSpPr>
          <p:cNvPr id="5" name="Text 3">
            <a:extLst>
              <a:ext uri="{FF2B5EF4-FFF2-40B4-BE49-F238E27FC236}">
                <a16:creationId xmlns:a16="http://schemas.microsoft.com/office/drawing/2014/main" id="{A867D238-C433-216E-2EDD-69EC7B0FE0DB}"/>
              </a:ext>
            </a:extLst>
          </p:cNvPr>
          <p:cNvSpPr/>
          <p:nvPr/>
        </p:nvSpPr>
        <p:spPr>
          <a:xfrm>
            <a:off x="7848600" y="1536601"/>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Spannungsversorgung</a:t>
            </a:r>
            <a:endParaRPr lang="en-US" sz="1400" dirty="0"/>
          </a:p>
        </p:txBody>
      </p:sp>
      <p:sp>
        <p:nvSpPr>
          <p:cNvPr id="6" name="Text 4">
            <a:extLst>
              <a:ext uri="{FF2B5EF4-FFF2-40B4-BE49-F238E27FC236}">
                <a16:creationId xmlns:a16="http://schemas.microsoft.com/office/drawing/2014/main" id="{8D6E7105-DAAD-2C58-9FE5-1545075A460B}"/>
              </a:ext>
            </a:extLst>
          </p:cNvPr>
          <p:cNvSpPr/>
          <p:nvPr/>
        </p:nvSpPr>
        <p:spPr>
          <a:xfrm>
            <a:off x="7848600" y="1788021"/>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24 V Eingang, Abwärtsregler auf 5 V, daraus 3,3 V für die Logik</a:t>
            </a:r>
            <a:endParaRPr lang="en-US" sz="1350" dirty="0"/>
          </a:p>
        </p:txBody>
      </p:sp>
      <p:sp>
        <p:nvSpPr>
          <p:cNvPr id="7" name="Text 5">
            <a:extLst>
              <a:ext uri="{FF2B5EF4-FFF2-40B4-BE49-F238E27FC236}">
                <a16:creationId xmlns:a16="http://schemas.microsoft.com/office/drawing/2014/main" id="{E2F6AFB9-6145-AE1E-622A-9F6804746585}"/>
              </a:ext>
            </a:extLst>
          </p:cNvPr>
          <p:cNvSpPr/>
          <p:nvPr/>
        </p:nvSpPr>
        <p:spPr>
          <a:xfrm>
            <a:off x="7848600" y="2377777"/>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Mikrocontroller</a:t>
            </a:r>
            <a:endParaRPr lang="en-US" sz="1400" dirty="0"/>
          </a:p>
        </p:txBody>
      </p:sp>
      <p:sp>
        <p:nvSpPr>
          <p:cNvPr id="8" name="Text 6">
            <a:extLst>
              <a:ext uri="{FF2B5EF4-FFF2-40B4-BE49-F238E27FC236}">
                <a16:creationId xmlns:a16="http://schemas.microsoft.com/office/drawing/2014/main" id="{B109D641-E274-1A08-75D9-E6E634852B08}"/>
              </a:ext>
            </a:extLst>
          </p:cNvPr>
          <p:cNvSpPr/>
          <p:nvPr/>
        </p:nvSpPr>
        <p:spPr>
          <a:xfrm>
            <a:off x="7848600" y="2629198"/>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STM32F446RE als Nucleo-Modul, Programmierung und Debug über ST-Link</a:t>
            </a:r>
            <a:endParaRPr lang="en-US" sz="1350" dirty="0"/>
          </a:p>
        </p:txBody>
      </p:sp>
      <p:sp>
        <p:nvSpPr>
          <p:cNvPr id="9" name="Text 7">
            <a:extLst>
              <a:ext uri="{FF2B5EF4-FFF2-40B4-BE49-F238E27FC236}">
                <a16:creationId xmlns:a16="http://schemas.microsoft.com/office/drawing/2014/main" id="{C602960C-EFFD-0C7A-EAA7-D01368E43A6C}"/>
              </a:ext>
            </a:extLst>
          </p:cNvPr>
          <p:cNvSpPr/>
          <p:nvPr/>
        </p:nvSpPr>
        <p:spPr>
          <a:xfrm>
            <a:off x="7848600" y="3218954"/>
            <a:ext cx="36365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7FB8D8"/>
                </a:solidFill>
                <a:latin typeface="IBM Plex Sans" pitchFamily="34" charset="0"/>
                <a:ea typeface="IBM Plex Sans" pitchFamily="34" charset="-122"/>
                <a:cs typeface="IBM Plex Sans" pitchFamily="34" charset="-120"/>
              </a:rPr>
              <a:t>Leistungsteil</a:t>
            </a:r>
            <a:endParaRPr lang="en-US" sz="1400" dirty="0"/>
          </a:p>
        </p:txBody>
      </p:sp>
      <p:sp>
        <p:nvSpPr>
          <p:cNvPr id="10" name="Text 8">
            <a:extLst>
              <a:ext uri="{FF2B5EF4-FFF2-40B4-BE49-F238E27FC236}">
                <a16:creationId xmlns:a16="http://schemas.microsoft.com/office/drawing/2014/main" id="{02FBDFC2-7F35-F343-6D83-93EE4C86FC1B}"/>
              </a:ext>
            </a:extLst>
          </p:cNvPr>
          <p:cNvSpPr/>
          <p:nvPr/>
        </p:nvSpPr>
        <p:spPr>
          <a:xfrm>
            <a:off x="7848600" y="3470374"/>
            <a:ext cx="3636518"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BFD8D5"/>
                </a:solidFill>
                <a:latin typeface="IBM Plex Sans" pitchFamily="34" charset="0"/>
                <a:ea typeface="IBM Plex Sans" pitchFamily="34" charset="-122"/>
                <a:cs typeface="IBM Plex Sans" pitchFamily="34" charset="-120"/>
              </a:rPr>
              <a:t>Hotend und Bett über Low-Side-MOSFETs mit Gate-Treiber, 2 PWM-Lüfterkanäle</a:t>
            </a:r>
            <a:endParaRPr lang="en-US" sz="1350" dirty="0"/>
          </a:p>
        </p:txBody>
      </p:sp>
      <p:sp>
        <p:nvSpPr>
          <p:cNvPr id="11" name="Shape 9">
            <a:extLst>
              <a:ext uri="{FF2B5EF4-FFF2-40B4-BE49-F238E27FC236}">
                <a16:creationId xmlns:a16="http://schemas.microsoft.com/office/drawing/2014/main" id="{5CD75DB6-9ACC-16C1-0CDF-C03AE9CC1B3B}"/>
              </a:ext>
            </a:extLst>
          </p:cNvPr>
          <p:cNvSpPr/>
          <p:nvPr/>
        </p:nvSpPr>
        <p:spPr>
          <a:xfrm>
            <a:off x="7848600" y="4060130"/>
            <a:ext cx="3530600" cy="1293316"/>
          </a:xfrm>
          <a:prstGeom prst="roundRect">
            <a:avLst>
              <a:gd name="adj" fmla="val 5892"/>
            </a:avLst>
          </a:prstGeom>
          <a:solidFill>
            <a:srgbClr val="E07A3F"/>
          </a:solidFill>
          <a:ln/>
        </p:spPr>
        <p:txBody>
          <a:bodyPr/>
          <a:lstStyle/>
          <a:p>
            <a:endParaRPr lang="en-US"/>
          </a:p>
        </p:txBody>
      </p:sp>
      <p:sp>
        <p:nvSpPr>
          <p:cNvPr id="12" name="Text 10">
            <a:extLst>
              <a:ext uri="{FF2B5EF4-FFF2-40B4-BE49-F238E27FC236}">
                <a16:creationId xmlns:a16="http://schemas.microsoft.com/office/drawing/2014/main" id="{7FAE205E-DE49-9893-26F6-E9552DB44C6D}"/>
              </a:ext>
            </a:extLst>
          </p:cNvPr>
          <p:cNvSpPr/>
          <p:nvPr/>
        </p:nvSpPr>
        <p:spPr>
          <a:xfrm>
            <a:off x="8026400" y="4237930"/>
            <a:ext cx="327025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15202B"/>
                </a:solidFill>
                <a:latin typeface="IBM Plex Sans" pitchFamily="34" charset="0"/>
                <a:ea typeface="IBM Plex Sans" pitchFamily="34" charset="-122"/>
                <a:cs typeface="IBM Plex Sans" pitchFamily="34" charset="-120"/>
              </a:rPr>
              <a:t>Der Teiler am Enable-Pin</a:t>
            </a:r>
            <a:endParaRPr lang="en-US" sz="1350" dirty="0"/>
          </a:p>
        </p:txBody>
      </p:sp>
      <p:sp>
        <p:nvSpPr>
          <p:cNvPr id="13" name="Text 11">
            <a:extLst>
              <a:ext uri="{FF2B5EF4-FFF2-40B4-BE49-F238E27FC236}">
                <a16:creationId xmlns:a16="http://schemas.microsoft.com/office/drawing/2014/main" id="{F67E6072-F3DD-1ECF-C689-C9A5F5E2DE35}"/>
              </a:ext>
            </a:extLst>
          </p:cNvPr>
          <p:cNvSpPr/>
          <p:nvPr/>
        </p:nvSpPr>
        <p:spPr>
          <a:xfrm>
            <a:off x="8026400" y="4507111"/>
            <a:ext cx="327025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5202B"/>
                </a:solidFill>
                <a:latin typeface="IBM Plex Sans" pitchFamily="34" charset="0"/>
                <a:ea typeface="IBM Plex Sans" pitchFamily="34" charset="-122"/>
                <a:cs typeface="IBM Plex Sans" pitchFamily="34" charset="-120"/>
              </a:rPr>
              <a:t>Gibt die 3,3 V erst bei rund 12,6 V Motorspannung frei — damit VM immer vor VIO anliegt</a:t>
            </a:r>
            <a:endParaRPr lang="en-US" sz="1300" dirty="0"/>
          </a:p>
        </p:txBody>
      </p:sp>
      <p:sp>
        <p:nvSpPr>
          <p:cNvPr id="14" name="Text 12">
            <a:extLst>
              <a:ext uri="{FF2B5EF4-FFF2-40B4-BE49-F238E27FC236}">
                <a16:creationId xmlns:a16="http://schemas.microsoft.com/office/drawing/2014/main" id="{64E0E3F1-E991-0564-65E1-90A0DDF7E232}"/>
              </a:ext>
            </a:extLst>
          </p:cNvPr>
          <p:cNvSpPr/>
          <p:nvPr/>
        </p:nvSpPr>
        <p:spPr>
          <a:xfrm>
            <a:off x="812800" y="6238280"/>
            <a:ext cx="55709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0"/>
                </a:solidFill>
                <a:latin typeface="IBM Plex Sans" pitchFamily="34" charset="0"/>
                <a:ea typeface="IBM Plex Sans" pitchFamily="34" charset="-122"/>
                <a:cs typeface="IBM Plex Sans" pitchFamily="34" charset="-120"/>
              </a:rPr>
              <a:t>Abbildung: Mainboard-Schaltplan, Ausschnitt Spannungsversorgung</a:t>
            </a:r>
            <a:endParaRPr lang="en-US" sz="1200" dirty="0"/>
          </a:p>
        </p:txBody>
      </p:sp>
      <p:pic>
        <p:nvPicPr>
          <p:cNvPr id="23" name="Grafik 22">
            <a:extLst>
              <a:ext uri="{FF2B5EF4-FFF2-40B4-BE49-F238E27FC236}">
                <a16:creationId xmlns:a16="http://schemas.microsoft.com/office/drawing/2014/main" id="{12B46FEB-B57D-7BF7-F588-655539BA1A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67850" y="0"/>
            <a:ext cx="25279352" cy="17871715"/>
          </a:xfrm>
          <a:prstGeom prst="rect">
            <a:avLst/>
          </a:prstGeom>
        </p:spPr>
      </p:pic>
    </p:spTree>
    <p:extLst>
      <p:ext uri="{BB962C8B-B14F-4D97-AF65-F5344CB8AC3E}">
        <p14:creationId xmlns:p14="http://schemas.microsoft.com/office/powerpoint/2010/main" val="3642189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21258"/>
          </a:xfrm>
          <a:prstGeom prst="rect">
            <a:avLst/>
          </a:prstGeom>
          <a:noFill/>
          <a:ln/>
        </p:spPr>
        <p:txBody>
          <a:bodyPr wrap="square" lIns="0" tIns="0" rIns="0" bIns="0" rtlCol="0" anchor="t">
            <a:normAutofit/>
          </a:bodyPr>
          <a:lstStyle/>
          <a:p>
            <a:pPr marL="0" indent="0" algn="l">
              <a:lnSpc>
                <a:spcPts val="1570"/>
              </a:lnSpc>
              <a:buNone/>
            </a:pPr>
            <a:r>
              <a:rPr lang="en-US" sz="1121" kern="0" spc="150" dirty="0">
                <a:solidFill>
                  <a:srgbClr val="E07A3F"/>
                </a:solidFill>
                <a:latin typeface="JetBrains Mono" pitchFamily="49" charset="0"/>
                <a:ea typeface="JetBrains Mono" pitchFamily="49" charset="-122"/>
                <a:cs typeface="JetBrains Mono" pitchFamily="49" charset="-120"/>
              </a:rPr>
              <a:t>MAINBOARD · LAYOUT UND AUFBAU</a:t>
            </a:r>
            <a:endParaRPr lang="en-US" sz="1121" dirty="0"/>
          </a:p>
        </p:txBody>
      </p:sp>
      <p:sp>
        <p:nvSpPr>
          <p:cNvPr id="3" name="Text 1"/>
          <p:cNvSpPr>
            <a:spLocks noGrp="1"/>
          </p:cNvSpPr>
          <p:nvPr>
            <p:ph type="title"/>
          </p:nvPr>
        </p:nvSpPr>
        <p:spPr>
          <a:xfrm>
            <a:off x="812800" y="881658"/>
            <a:ext cx="10883392" cy="357088"/>
          </a:xfrm>
          <a:prstGeom prst="rect">
            <a:avLst/>
          </a:prstGeom>
          <a:noFill/>
          <a:ln/>
        </p:spPr>
        <p:txBody>
          <a:bodyPr wrap="square" lIns="0" tIns="0" rIns="0" bIns="0" rtlCol="0" anchor="t">
            <a:normAutofit/>
          </a:bodyPr>
          <a:lstStyle/>
          <a:p>
            <a:pPr marL="0" indent="0" algn="l">
              <a:lnSpc>
                <a:spcPts val="2618"/>
              </a:lnSpc>
              <a:buNone/>
            </a:pPr>
            <a:r>
              <a:rPr lang="en-US" sz="2380" b="1" i="0" dirty="0">
                <a:solidFill>
                  <a:srgbClr val="F7F8F6"/>
                </a:solidFill>
                <a:latin typeface="IBM Plex Sans" pitchFamily="34" charset="0"/>
                <a:ea typeface="IBM Plex Sans" pitchFamily="34" charset="-122"/>
                <a:cs typeface="IBM Plex Sans" pitchFamily="34" charset="-120"/>
              </a:rPr>
              <a:t>Die 24-V-Schiene trägt alles</a:t>
            </a:r>
            <a:endParaRPr lang="en-US" sz="2380" dirty="0"/>
          </a:p>
        </p:txBody>
      </p:sp>
      <p:sp>
        <p:nvSpPr>
          <p:cNvPr id="4" name="Shape 2"/>
          <p:cNvSpPr/>
          <p:nvPr/>
        </p:nvSpPr>
        <p:spPr>
          <a:xfrm>
            <a:off x="815975" y="1445121"/>
            <a:ext cx="5022850" cy="2340372"/>
          </a:xfrm>
          <a:prstGeom prst="roundRect">
            <a:avLst>
              <a:gd name="adj" fmla="val 3120"/>
            </a:avLst>
          </a:prstGeom>
          <a:solidFill>
            <a:srgbClr val="243441"/>
          </a:solidFill>
          <a:ln w="6350">
            <a:solidFill>
              <a:srgbClr val="3A4854"/>
            </a:solidFill>
            <a:prstDash val="solid"/>
          </a:ln>
        </p:spPr>
        <p:txBody>
          <a:bodyPr/>
          <a:lstStyle/>
          <a:p>
            <a:endParaRPr lang="en-US"/>
          </a:p>
        </p:txBody>
      </p:sp>
      <p:sp>
        <p:nvSpPr>
          <p:cNvPr id="5" name="Text 3"/>
          <p:cNvSpPr/>
          <p:nvPr/>
        </p:nvSpPr>
        <p:spPr>
          <a:xfrm>
            <a:off x="812800" y="3902968"/>
            <a:ext cx="5310886" cy="216793"/>
          </a:xfrm>
          <a:prstGeom prst="rect">
            <a:avLst/>
          </a:prstGeom>
          <a:noFill/>
          <a:ln/>
        </p:spPr>
        <p:txBody>
          <a:bodyPr wrap="square" lIns="0" tIns="0" rIns="0" bIns="0" rtlCol="0" anchor="t">
            <a:normAutofit/>
          </a:bodyPr>
          <a:lstStyle/>
          <a:p>
            <a:pPr marL="0" indent="0" algn="l">
              <a:lnSpc>
                <a:spcPts val="1519"/>
              </a:lnSpc>
              <a:buNone/>
            </a:pPr>
            <a:r>
              <a:rPr lang="en-US" sz="1125" dirty="0">
                <a:solidFill>
                  <a:srgbClr val="8FA3B0"/>
                </a:solidFill>
                <a:latin typeface="IBM Plex Sans" pitchFamily="34" charset="0"/>
                <a:ea typeface="IBM Plex Sans" pitchFamily="34" charset="-122"/>
                <a:cs typeface="IBM Plex Sans" pitchFamily="34" charset="-120"/>
              </a:rPr>
              <a:t>Layout · 24-V-Schiene 4 mm breit, am Ende 3 mm</a:t>
            </a:r>
            <a:endParaRPr lang="en-US" sz="1125" dirty="0"/>
          </a:p>
        </p:txBody>
      </p:sp>
      <p:sp>
        <p:nvSpPr>
          <p:cNvPr id="6" name="Shape 4"/>
          <p:cNvSpPr/>
          <p:nvPr/>
        </p:nvSpPr>
        <p:spPr>
          <a:xfrm>
            <a:off x="6226175" y="1445121"/>
            <a:ext cx="5022850" cy="2340372"/>
          </a:xfrm>
          <a:prstGeom prst="roundRect">
            <a:avLst>
              <a:gd name="adj" fmla="val 3120"/>
            </a:avLst>
          </a:prstGeom>
          <a:solidFill>
            <a:srgbClr val="243441"/>
          </a:solidFill>
          <a:ln w="6350">
            <a:solidFill>
              <a:srgbClr val="3A4854"/>
            </a:solidFill>
            <a:prstDash val="solid"/>
          </a:ln>
        </p:spPr>
        <p:txBody>
          <a:bodyPr/>
          <a:lstStyle/>
          <a:p>
            <a:endParaRPr lang="en-US"/>
          </a:p>
        </p:txBody>
      </p:sp>
      <p:sp>
        <p:nvSpPr>
          <p:cNvPr id="7" name="Text 5"/>
          <p:cNvSpPr/>
          <p:nvPr/>
        </p:nvSpPr>
        <p:spPr>
          <a:xfrm>
            <a:off x="6223000" y="3902968"/>
            <a:ext cx="5310886" cy="216793"/>
          </a:xfrm>
          <a:prstGeom prst="rect">
            <a:avLst/>
          </a:prstGeom>
          <a:noFill/>
          <a:ln/>
        </p:spPr>
        <p:txBody>
          <a:bodyPr wrap="square" lIns="0" tIns="0" rIns="0" bIns="0" rtlCol="0" anchor="t">
            <a:normAutofit/>
          </a:bodyPr>
          <a:lstStyle/>
          <a:p>
            <a:pPr marL="0" indent="0" algn="l">
              <a:lnSpc>
                <a:spcPts val="1519"/>
              </a:lnSpc>
              <a:buNone/>
            </a:pPr>
            <a:r>
              <a:rPr lang="en-US" sz="1125" dirty="0">
                <a:solidFill>
                  <a:srgbClr val="8FA3B0"/>
                </a:solidFill>
                <a:latin typeface="IBM Plex Sans" pitchFamily="34" charset="0"/>
                <a:ea typeface="IBM Plex Sans" pitchFamily="34" charset="-122"/>
                <a:cs typeface="IBM Plex Sans" pitchFamily="34" charset="-120"/>
              </a:rPr>
              <a:t>Bestücktes Mainboard mit aufgesteckten Treibern</a:t>
            </a:r>
            <a:endParaRPr lang="en-US" sz="1125" dirty="0"/>
          </a:p>
        </p:txBody>
      </p:sp>
      <p:sp>
        <p:nvSpPr>
          <p:cNvPr id="8" name="Shape 6"/>
          <p:cNvSpPr/>
          <p:nvPr/>
        </p:nvSpPr>
        <p:spPr>
          <a:xfrm>
            <a:off x="812800" y="4322961"/>
            <a:ext cx="10566400" cy="1519039"/>
          </a:xfrm>
          <a:prstGeom prst="roundRect">
            <a:avLst>
              <a:gd name="adj" fmla="val 5016"/>
            </a:avLst>
          </a:prstGeom>
          <a:solidFill>
            <a:srgbClr val="1D2B38"/>
          </a:solidFill>
          <a:ln/>
        </p:spPr>
        <p:txBody>
          <a:bodyPr/>
          <a:lstStyle/>
          <a:p>
            <a:endParaRPr lang="en-US"/>
          </a:p>
        </p:txBody>
      </p:sp>
      <p:sp>
        <p:nvSpPr>
          <p:cNvPr id="9" name="Text 7"/>
          <p:cNvSpPr/>
          <p:nvPr/>
        </p:nvSpPr>
        <p:spPr>
          <a:xfrm>
            <a:off x="1041400" y="4706243"/>
            <a:ext cx="340106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07A3F"/>
                </a:solidFill>
                <a:latin typeface="IBM Plex Sans" pitchFamily="34" charset="0"/>
                <a:ea typeface="IBM Plex Sans" pitchFamily="34" charset="-122"/>
                <a:cs typeface="IBM Plex Sans" pitchFamily="34" charset="-120"/>
              </a:rPr>
              <a:t>Nachgerechnet nach IPC-2221</a:t>
            </a:r>
            <a:endParaRPr lang="en-US" sz="1400" dirty="0"/>
          </a:p>
        </p:txBody>
      </p:sp>
      <p:sp>
        <p:nvSpPr>
          <p:cNvPr id="10" name="Text 8"/>
          <p:cNvSpPr/>
          <p:nvPr/>
        </p:nvSpPr>
        <p:spPr>
          <a:xfrm>
            <a:off x="1041400" y="4970363"/>
            <a:ext cx="34010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8F6"/>
                </a:solidFill>
                <a:latin typeface="JetBrains Mono" pitchFamily="49" charset="0"/>
                <a:ea typeface="JetBrains Mono" pitchFamily="49" charset="-122"/>
                <a:cs typeface="JetBrains Mono" pitchFamily="49" charset="-120"/>
              </a:rPr>
              <a:t>I = k · ΔT^0,44 · A^0,725</a:t>
            </a:r>
            <a:endParaRPr lang="en-US" sz="1300" dirty="0"/>
          </a:p>
        </p:txBody>
      </p:sp>
      <p:sp>
        <p:nvSpPr>
          <p:cNvPr id="11" name="Text 9"/>
          <p:cNvSpPr/>
          <p:nvPr/>
        </p:nvSpPr>
        <p:spPr>
          <a:xfrm>
            <a:off x="1041400" y="5252244"/>
            <a:ext cx="3401060" cy="231775"/>
          </a:xfrm>
          <a:prstGeom prst="rect">
            <a:avLst/>
          </a:prstGeom>
          <a:noFill/>
          <a:ln/>
        </p:spPr>
        <p:txBody>
          <a:bodyPr wrap="square" lIns="0" tIns="0" rIns="0" bIns="0" rtlCol="0" anchor="t">
            <a:normAutofit/>
          </a:bodyPr>
          <a:lstStyle/>
          <a:p>
            <a:pPr marL="0" indent="0" algn="l">
              <a:lnSpc>
                <a:spcPts val="1625"/>
              </a:lnSpc>
              <a:buNone/>
            </a:pPr>
            <a:r>
              <a:rPr lang="en-US" sz="1250" dirty="0">
                <a:solidFill>
                  <a:srgbClr val="8FA3B0"/>
                </a:solidFill>
                <a:latin typeface="IBM Plex Sans" pitchFamily="34" charset="0"/>
                <a:ea typeface="IBM Plex Sans" pitchFamily="34" charset="-122"/>
                <a:cs typeface="IBM Plex Sans" pitchFamily="34" charset="-120"/>
              </a:rPr>
              <a:t>k = 0,048 (Außenlage), 35 µm Kupfer</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59300" y="4481215"/>
          <a:ext cx="6591300" cy="1215330"/>
        </p:xfrm>
        <a:graphic>
          <a:graphicData uri="http://schemas.openxmlformats.org/drawingml/2006/table">
            <a:tbl>
              <a:tblPr/>
              <a:tblGrid>
                <a:gridCol w="2241042">
                  <a:extLst>
                    <a:ext uri="{9D8B030D-6E8A-4147-A177-3AD203B41FA5}">
                      <a16:colId xmlns:a16="http://schemas.microsoft.com/office/drawing/2014/main" val="20000"/>
                    </a:ext>
                  </a:extLst>
                </a:gridCol>
                <a:gridCol w="2175129">
                  <a:extLst>
                    <a:ext uri="{9D8B030D-6E8A-4147-A177-3AD203B41FA5}">
                      <a16:colId xmlns:a16="http://schemas.microsoft.com/office/drawing/2014/main" val="20001"/>
                    </a:ext>
                  </a:extLst>
                </a:gridCol>
                <a:gridCol w="2175129">
                  <a:extLst>
                    <a:ext uri="{9D8B030D-6E8A-4147-A177-3AD203B41FA5}">
                      <a16:colId xmlns:a16="http://schemas.microsoft.com/office/drawing/2014/main" val="20002"/>
                    </a:ext>
                  </a:extLst>
                </a:gridCol>
              </a:tblGrid>
              <a:tr h="405110">
                <a:tc>
                  <a:txBody>
                    <a:bodyPr/>
                    <a:lstStyle/>
                    <a:p>
                      <a:pPr marL="0" indent="0">
                        <a:lnSpc>
                          <a:spcPts val="1890"/>
                        </a:lnSpc>
                        <a:buNone/>
                      </a:pPr>
                      <a:r>
                        <a:rPr lang="en-US" sz="1350" b="1" dirty="0">
                          <a:solidFill>
                            <a:srgbClr val="8FA3B0"/>
                          </a:solidFill>
                          <a:latin typeface="IBM Plex Sans" pitchFamily="34" charset="0"/>
                          <a:ea typeface="IBM Plex Sans" pitchFamily="34" charset="-122"/>
                          <a:cs typeface="IBM Plex Sans" pitchFamily="34" charset="-120"/>
                        </a:rPr>
                        <a:t>Breite</a:t>
                      </a:r>
                      <a:endParaRPr lang="en-US" sz="1350" dirty="0">
                        <a:latin typeface="IBM Plex Sans" charset="0"/>
                        <a:ea typeface="IBM Plex Sans" charset="0"/>
                        <a:cs typeface="IBM Plex Sans" charset="0"/>
                      </a:endParaRPr>
                    </a:p>
                  </a:txBody>
                  <a:tcPr marL="76200" marR="76200" marT="76200" marB="76200">
                    <a:lnL w="12700" cap="flat" cmpd="sng" algn="ctr">
                      <a:solidFill>
                        <a:srgbClr val="4E5862"/>
                      </a:solidFill>
                      <a:prstDash val="solid"/>
                      <a:round/>
                      <a:headEnd type="none" w="med" len="med"/>
                      <a:tailEnd type="none" w="med" len="med"/>
                    </a:lnL>
                    <a:lnR w="12700" cap="flat" cmpd="sng" algn="ctr">
                      <a:solidFill>
                        <a:srgbClr val="5C656D"/>
                      </a:solidFill>
                      <a:prstDash val="solid"/>
                      <a:round/>
                      <a:headEnd type="none" w="med" len="med"/>
                      <a:tailEnd type="none" w="med" len="med"/>
                    </a:lnR>
                    <a:lnT w="12700" cap="flat" cmpd="sng" algn="ctr">
                      <a:solidFill>
                        <a:srgbClr val="4E5862"/>
                      </a:solidFill>
                      <a:prstDash val="solid"/>
                      <a:round/>
                      <a:headEnd type="none" w="med" len="med"/>
                      <a:tailEnd type="none" w="med" len="med"/>
                    </a:lnT>
                    <a:lnB w="12700" cap="flat" cmpd="sng" algn="ctr">
                      <a:solidFill>
                        <a:srgbClr val="5C656D"/>
                      </a:solidFill>
                      <a:prstDash val="solid"/>
                      <a:round/>
                      <a:headEnd type="none" w="med" len="med"/>
                      <a:tailEnd type="none" w="med" len="med"/>
                    </a:lnB>
                    <a:solidFill>
                      <a:srgbClr val="2F3B47"/>
                    </a:solidFill>
                  </a:tcPr>
                </a:tc>
                <a:tc>
                  <a:txBody>
                    <a:bodyPr/>
                    <a:lstStyle/>
                    <a:p>
                      <a:pPr marL="0" indent="0">
                        <a:lnSpc>
                          <a:spcPts val="1890"/>
                        </a:lnSpc>
                        <a:buNone/>
                      </a:pPr>
                      <a:r>
                        <a:rPr lang="en-US" sz="1350" b="1" dirty="0">
                          <a:solidFill>
                            <a:srgbClr val="8FA3B0"/>
                          </a:solidFill>
                          <a:latin typeface="IBM Plex Sans" pitchFamily="34" charset="0"/>
                          <a:ea typeface="IBM Plex Sans" pitchFamily="34" charset="-122"/>
                          <a:cs typeface="IBM Plex Sans" pitchFamily="34" charset="-120"/>
                        </a:rPr>
                        <a:t>ΔT = 10 K</a:t>
                      </a:r>
                      <a:endParaRPr lang="en-US" sz="1350" dirty="0">
                        <a:latin typeface="IBM Plex Sans" charset="0"/>
                        <a:ea typeface="IBM Plex Sans" charset="0"/>
                        <a:cs typeface="IBM Plex Sans" charset="0"/>
                      </a:endParaRPr>
                    </a:p>
                  </a:txBody>
                  <a:tcPr marL="76200" marR="76200" marT="76200" marB="76200">
                    <a:lnL w="12700" cap="flat" cmpd="sng" algn="ctr">
                      <a:solidFill>
                        <a:srgbClr val="5C656D"/>
                      </a:solidFill>
                      <a:prstDash val="solid"/>
                      <a:round/>
                      <a:headEnd type="none" w="med" len="med"/>
                      <a:tailEnd type="none" w="med" len="med"/>
                    </a:lnL>
                    <a:lnR w="12700" cap="flat" cmpd="sng" algn="ctr">
                      <a:solidFill>
                        <a:srgbClr val="5C656D"/>
                      </a:solidFill>
                      <a:prstDash val="solid"/>
                      <a:round/>
                      <a:headEnd type="none" w="med" len="med"/>
                      <a:tailEnd type="none" w="med" len="med"/>
                    </a:lnR>
                    <a:lnT w="12700" cap="flat" cmpd="sng" algn="ctr">
                      <a:solidFill>
                        <a:srgbClr val="4E5862"/>
                      </a:solidFill>
                      <a:prstDash val="solid"/>
                      <a:round/>
                      <a:headEnd type="none" w="med" len="med"/>
                      <a:tailEnd type="none" w="med" len="med"/>
                    </a:lnT>
                    <a:lnB w="12700" cap="flat" cmpd="sng" algn="ctr">
                      <a:solidFill>
                        <a:srgbClr val="5C656D"/>
                      </a:solidFill>
                      <a:prstDash val="solid"/>
                      <a:round/>
                      <a:headEnd type="none" w="med" len="med"/>
                      <a:tailEnd type="none" w="med" len="med"/>
                    </a:lnB>
                    <a:solidFill>
                      <a:srgbClr val="2F3B47"/>
                    </a:solidFill>
                  </a:tcPr>
                </a:tc>
                <a:tc>
                  <a:txBody>
                    <a:bodyPr/>
                    <a:lstStyle/>
                    <a:p>
                      <a:pPr marL="0" indent="0">
                        <a:lnSpc>
                          <a:spcPts val="1890"/>
                        </a:lnSpc>
                        <a:buNone/>
                      </a:pPr>
                      <a:r>
                        <a:rPr lang="en-US" sz="1350" b="1" dirty="0">
                          <a:solidFill>
                            <a:srgbClr val="8FA3B0"/>
                          </a:solidFill>
                          <a:latin typeface="IBM Plex Sans" pitchFamily="34" charset="0"/>
                          <a:ea typeface="IBM Plex Sans" pitchFamily="34" charset="-122"/>
                          <a:cs typeface="IBM Plex Sans" pitchFamily="34" charset="-120"/>
                        </a:rPr>
                        <a:t>ΔT = 30 K</a:t>
                      </a:r>
                      <a:endParaRPr lang="en-US" sz="1350" dirty="0">
                        <a:latin typeface="IBM Plex Sans" charset="0"/>
                        <a:ea typeface="IBM Plex Sans" charset="0"/>
                        <a:cs typeface="IBM Plex Sans" charset="0"/>
                      </a:endParaRPr>
                    </a:p>
                  </a:txBody>
                  <a:tcPr marL="76200" marR="76200" marT="76200" marB="76200">
                    <a:lnL w="12700" cap="flat" cmpd="sng" algn="ctr">
                      <a:solidFill>
                        <a:srgbClr val="5C656D"/>
                      </a:solidFill>
                      <a:prstDash val="solid"/>
                      <a:round/>
                      <a:headEnd type="none" w="med" len="med"/>
                      <a:tailEnd type="none" w="med" len="med"/>
                    </a:lnL>
                    <a:lnR w="12700" cap="flat" cmpd="sng" algn="ctr">
                      <a:solidFill>
                        <a:srgbClr val="5C656D"/>
                      </a:solidFill>
                      <a:prstDash val="solid"/>
                      <a:round/>
                      <a:headEnd type="none" w="med" len="med"/>
                      <a:tailEnd type="none" w="med" len="med"/>
                    </a:lnR>
                    <a:lnT w="12700" cap="flat" cmpd="sng" algn="ctr">
                      <a:solidFill>
                        <a:srgbClr val="4E5862"/>
                      </a:solidFill>
                      <a:prstDash val="solid"/>
                      <a:round/>
                      <a:headEnd type="none" w="med" len="med"/>
                      <a:tailEnd type="none" w="med" len="med"/>
                    </a:lnT>
                    <a:lnB w="12700" cap="flat" cmpd="sng" algn="ctr">
                      <a:solidFill>
                        <a:srgbClr val="5C656D"/>
                      </a:solidFill>
                      <a:prstDash val="solid"/>
                      <a:round/>
                      <a:headEnd type="none" w="med" len="med"/>
                      <a:tailEnd type="none" w="med" len="med"/>
                    </a:lnB>
                    <a:solidFill>
                      <a:srgbClr val="2F3B47"/>
                    </a:solidFill>
                  </a:tcPr>
                </a:tc>
                <a:extLst>
                  <a:ext uri="{0D108BD9-81ED-4DB2-BD59-A6C34878D82A}">
                    <a16:rowId xmlns:a16="http://schemas.microsoft.com/office/drawing/2014/main" val="10000"/>
                  </a:ext>
                </a:extLst>
              </a:tr>
              <a:tr h="405110">
                <a:tc>
                  <a:txBody>
                    <a:bodyPr/>
                    <a:lstStyle/>
                    <a:p>
                      <a:pPr marL="0" indent="0">
                        <a:lnSpc>
                          <a:spcPts val="1890"/>
                        </a:lnSpc>
                        <a:buNone/>
                      </a:pPr>
                      <a:r>
                        <a:rPr lang="en-US" sz="1350" dirty="0">
                          <a:solidFill>
                            <a:srgbClr val="F7F8F6"/>
                          </a:solidFill>
                          <a:latin typeface="IBM Plex Sans" pitchFamily="34" charset="0"/>
                          <a:ea typeface="IBM Plex Sans" pitchFamily="34" charset="-122"/>
                          <a:cs typeface="IBM Plex Sans" pitchFamily="34" charset="-120"/>
                        </a:rPr>
                        <a:t>4,0 mm</a:t>
                      </a:r>
                      <a:endParaRPr lang="en-US" sz="1350" dirty="0">
                        <a:latin typeface="IBM Plex Sans" charset="0"/>
                        <a:ea typeface="IBM Plex Sans" charset="0"/>
                        <a:cs typeface="IBM Plex Sans" charset="0"/>
                      </a:endParaRPr>
                    </a:p>
                  </a:txBody>
                  <a:tcPr marL="76200" marR="76200" marT="76200" marB="76200">
                    <a:lnL w="12700" cap="flat" cmpd="sng" algn="ctr">
                      <a:solidFill>
                        <a:srgbClr val="4E5862"/>
                      </a:solidFill>
                      <a:prstDash val="solid"/>
                      <a:round/>
                      <a:headEnd type="none" w="med" len="med"/>
                      <a:tailEnd type="none" w="med" len="med"/>
                    </a:lnL>
                    <a:lnR w="12700" cap="flat" cmpd="sng" algn="ctr">
                      <a:solidFill>
                        <a:srgbClr val="4E5862"/>
                      </a:solidFill>
                      <a:prstDash val="solid"/>
                      <a:round/>
                      <a:headEnd type="none" w="med" len="med"/>
                      <a:tailEnd type="none" w="med" len="med"/>
                    </a:lnR>
                    <a:lnT w="12700" cap="flat" cmpd="sng" algn="ctr">
                      <a:solidFill>
                        <a:srgbClr val="5C656D"/>
                      </a:solidFill>
                      <a:prstDash val="solid"/>
                      <a:round/>
                      <a:headEnd type="none" w="med" len="med"/>
                      <a:tailEnd type="none" w="med" len="med"/>
                    </a:lnT>
                    <a:lnB w="12700" cap="flat" cmpd="sng" algn="ctr">
                      <a:solidFill>
                        <a:srgbClr val="4E5862"/>
                      </a:solidFill>
                      <a:prstDash val="solid"/>
                      <a:round/>
                      <a:headEnd type="none" w="med" len="med"/>
                      <a:tailEnd type="none" w="med" len="med"/>
                    </a:lnB>
                  </a:tcPr>
                </a:tc>
                <a:tc>
                  <a:txBody>
                    <a:bodyPr/>
                    <a:lstStyle/>
                    <a:p>
                      <a:pPr marL="0" indent="0">
                        <a:lnSpc>
                          <a:spcPts val="1890"/>
                        </a:lnSpc>
                        <a:buNone/>
                      </a:pPr>
                      <a:r>
                        <a:rPr lang="en-US" sz="1350" dirty="0">
                          <a:solidFill>
                            <a:srgbClr val="F7F8F6"/>
                          </a:solidFill>
                          <a:latin typeface="IBM Plex Sans" pitchFamily="34" charset="0"/>
                          <a:ea typeface="IBM Plex Sans" pitchFamily="34" charset="-122"/>
                          <a:cs typeface="IBM Plex Sans" pitchFamily="34" charset="-120"/>
                        </a:rPr>
                        <a:t>6,6 A</a:t>
                      </a:r>
                      <a:endParaRPr lang="en-US" sz="1350" dirty="0">
                        <a:latin typeface="IBM Plex Sans" charset="0"/>
                        <a:ea typeface="IBM Plex Sans" charset="0"/>
                        <a:cs typeface="IBM Plex Sans" charset="0"/>
                      </a:endParaRPr>
                    </a:p>
                  </a:txBody>
                  <a:tcPr marL="76200" marR="76200" marT="76200" marB="76200">
                    <a:lnL w="12700" cap="flat" cmpd="sng" algn="ctr">
                      <a:solidFill>
                        <a:srgbClr val="4E5862"/>
                      </a:solidFill>
                      <a:prstDash val="solid"/>
                      <a:round/>
                      <a:headEnd type="none" w="med" len="med"/>
                      <a:tailEnd type="none" w="med" len="med"/>
                    </a:lnL>
                    <a:lnR w="12700" cap="flat" cmpd="sng" algn="ctr">
                      <a:solidFill>
                        <a:srgbClr val="4E5862"/>
                      </a:solidFill>
                      <a:prstDash val="solid"/>
                      <a:round/>
                      <a:headEnd type="none" w="med" len="med"/>
                      <a:tailEnd type="none" w="med" len="med"/>
                    </a:lnR>
                    <a:lnT w="12700" cap="flat" cmpd="sng" algn="ctr">
                      <a:solidFill>
                        <a:srgbClr val="5C656D"/>
                      </a:solidFill>
                      <a:prstDash val="solid"/>
                      <a:round/>
                      <a:headEnd type="none" w="med" len="med"/>
                      <a:tailEnd type="none" w="med" len="med"/>
                    </a:lnT>
                    <a:lnB w="12700" cap="flat" cmpd="sng" algn="ctr">
                      <a:solidFill>
                        <a:srgbClr val="4E5862"/>
                      </a:solidFill>
                      <a:prstDash val="solid"/>
                      <a:round/>
                      <a:headEnd type="none" w="med" len="med"/>
                      <a:tailEnd type="none" w="med" len="med"/>
                    </a:lnB>
                  </a:tcPr>
                </a:tc>
                <a:tc>
                  <a:txBody>
                    <a:bodyPr/>
                    <a:lstStyle/>
                    <a:p>
                      <a:pPr marL="0" indent="0">
                        <a:lnSpc>
                          <a:spcPts val="1890"/>
                        </a:lnSpc>
                        <a:buNone/>
                      </a:pPr>
                      <a:r>
                        <a:rPr lang="en-US" sz="1350" dirty="0">
                          <a:solidFill>
                            <a:srgbClr val="F7F8F6"/>
                          </a:solidFill>
                          <a:latin typeface="IBM Plex Sans" pitchFamily="34" charset="0"/>
                          <a:ea typeface="IBM Plex Sans" pitchFamily="34" charset="-122"/>
                          <a:cs typeface="IBM Plex Sans" pitchFamily="34" charset="-120"/>
                        </a:rPr>
                        <a:t>10,6 A</a:t>
                      </a:r>
                      <a:endParaRPr lang="en-US" sz="1350" dirty="0">
                        <a:latin typeface="IBM Plex Sans" charset="0"/>
                        <a:ea typeface="IBM Plex Sans" charset="0"/>
                        <a:cs typeface="IBM Plex Sans" charset="0"/>
                      </a:endParaRPr>
                    </a:p>
                  </a:txBody>
                  <a:tcPr marL="76200" marR="76200" marT="76200" marB="76200">
                    <a:lnL w="12700" cap="flat" cmpd="sng" algn="ctr">
                      <a:solidFill>
                        <a:srgbClr val="4E5862"/>
                      </a:solidFill>
                      <a:prstDash val="solid"/>
                      <a:round/>
                      <a:headEnd type="none" w="med" len="med"/>
                      <a:tailEnd type="none" w="med" len="med"/>
                    </a:lnL>
                    <a:lnR w="12700" cap="flat" cmpd="sng" algn="ctr">
                      <a:solidFill>
                        <a:srgbClr val="4E5862"/>
                      </a:solidFill>
                      <a:prstDash val="solid"/>
                      <a:round/>
                      <a:headEnd type="none" w="med" len="med"/>
                      <a:tailEnd type="none" w="med" len="med"/>
                    </a:lnR>
                    <a:lnT w="12700" cap="flat" cmpd="sng" algn="ctr">
                      <a:solidFill>
                        <a:srgbClr val="5C656D"/>
                      </a:solidFill>
                      <a:prstDash val="solid"/>
                      <a:round/>
                      <a:headEnd type="none" w="med" len="med"/>
                      <a:tailEnd type="none" w="med" len="med"/>
                    </a:lnT>
                    <a:lnB w="12700" cap="flat" cmpd="sng" algn="ctr">
                      <a:solidFill>
                        <a:srgbClr val="4E5862"/>
                      </a:solidFill>
                      <a:prstDash val="solid"/>
                      <a:round/>
                      <a:headEnd type="none" w="med" len="med"/>
                      <a:tailEnd type="none" w="med" len="med"/>
                    </a:lnB>
                  </a:tcPr>
                </a:tc>
                <a:extLst>
                  <a:ext uri="{0D108BD9-81ED-4DB2-BD59-A6C34878D82A}">
                    <a16:rowId xmlns:a16="http://schemas.microsoft.com/office/drawing/2014/main" val="10001"/>
                  </a:ext>
                </a:extLst>
              </a:tr>
              <a:tr h="405110">
                <a:tc>
                  <a:txBody>
                    <a:bodyPr/>
                    <a:lstStyle/>
                    <a:p>
                      <a:pPr marL="0" indent="0">
                        <a:lnSpc>
                          <a:spcPts val="1890"/>
                        </a:lnSpc>
                        <a:buNone/>
                      </a:pPr>
                      <a:r>
                        <a:rPr lang="en-US" sz="1350" dirty="0">
                          <a:solidFill>
                            <a:srgbClr val="F7F8F6"/>
                          </a:solidFill>
                          <a:latin typeface="IBM Plex Sans" pitchFamily="34" charset="0"/>
                          <a:ea typeface="IBM Plex Sans" pitchFamily="34" charset="-122"/>
                          <a:cs typeface="IBM Plex Sans" pitchFamily="34" charset="-120"/>
                        </a:rPr>
                        <a:t>3,0 mm</a:t>
                      </a:r>
                      <a:endParaRPr lang="en-US" sz="1350" dirty="0">
                        <a:latin typeface="IBM Plex Sans" charset="0"/>
                        <a:ea typeface="IBM Plex Sans" charset="0"/>
                        <a:cs typeface="IBM Plex Sans" charset="0"/>
                      </a:endParaRPr>
                    </a:p>
                  </a:txBody>
                  <a:tcPr marL="76200" marR="76200" marT="76200" marB="76200">
                    <a:lnL w="12700" cap="flat" cmpd="sng" algn="ctr">
                      <a:solidFill>
                        <a:srgbClr val="4E5862"/>
                      </a:solidFill>
                      <a:prstDash val="solid"/>
                      <a:round/>
                      <a:headEnd type="none" w="med" len="med"/>
                      <a:tailEnd type="none" w="med" len="med"/>
                    </a:lnL>
                    <a:lnR w="12700" cap="flat" cmpd="sng" algn="ctr">
                      <a:solidFill>
                        <a:srgbClr val="4E5862"/>
                      </a:solidFill>
                      <a:prstDash val="solid"/>
                      <a:round/>
                      <a:headEnd type="none" w="med" len="med"/>
                      <a:tailEnd type="none" w="med" len="med"/>
                    </a:lnR>
                    <a:lnT w="12700" cap="flat" cmpd="sng" algn="ctr">
                      <a:solidFill>
                        <a:srgbClr val="4E5862"/>
                      </a:solidFill>
                      <a:prstDash val="solid"/>
                      <a:round/>
                      <a:headEnd type="none" w="med" len="med"/>
                      <a:tailEnd type="none" w="med" len="med"/>
                    </a:lnT>
                    <a:lnB w="12700" cap="flat" cmpd="sng" algn="ctr">
                      <a:solidFill>
                        <a:srgbClr val="4E5862"/>
                      </a:solidFill>
                      <a:prstDash val="solid"/>
                      <a:round/>
                      <a:headEnd type="none" w="med" len="med"/>
                      <a:tailEnd type="none" w="med" len="med"/>
                    </a:lnB>
                  </a:tcPr>
                </a:tc>
                <a:tc>
                  <a:txBody>
                    <a:bodyPr/>
                    <a:lstStyle/>
                    <a:p>
                      <a:pPr marL="0" indent="0">
                        <a:lnSpc>
                          <a:spcPts val="1890"/>
                        </a:lnSpc>
                        <a:buNone/>
                      </a:pPr>
                      <a:r>
                        <a:rPr lang="en-US" sz="1350" dirty="0">
                          <a:solidFill>
                            <a:srgbClr val="F7F8F6"/>
                          </a:solidFill>
                          <a:latin typeface="IBM Plex Sans" pitchFamily="34" charset="0"/>
                          <a:ea typeface="IBM Plex Sans" pitchFamily="34" charset="-122"/>
                          <a:cs typeface="IBM Plex Sans" pitchFamily="34" charset="-120"/>
                        </a:rPr>
                        <a:t>5,4 A</a:t>
                      </a:r>
                      <a:endParaRPr lang="en-US" sz="1350" dirty="0">
                        <a:latin typeface="IBM Plex Sans" charset="0"/>
                        <a:ea typeface="IBM Plex Sans" charset="0"/>
                        <a:cs typeface="IBM Plex Sans" charset="0"/>
                      </a:endParaRPr>
                    </a:p>
                  </a:txBody>
                  <a:tcPr marL="76200" marR="76200" marT="76200" marB="76200">
                    <a:lnL w="12700" cap="flat" cmpd="sng" algn="ctr">
                      <a:solidFill>
                        <a:srgbClr val="4E5862"/>
                      </a:solidFill>
                      <a:prstDash val="solid"/>
                      <a:round/>
                      <a:headEnd type="none" w="med" len="med"/>
                      <a:tailEnd type="none" w="med" len="med"/>
                    </a:lnL>
                    <a:lnR w="12700" cap="flat" cmpd="sng" algn="ctr">
                      <a:solidFill>
                        <a:srgbClr val="4E5862"/>
                      </a:solidFill>
                      <a:prstDash val="solid"/>
                      <a:round/>
                      <a:headEnd type="none" w="med" len="med"/>
                      <a:tailEnd type="none" w="med" len="med"/>
                    </a:lnR>
                    <a:lnT w="12700" cap="flat" cmpd="sng" algn="ctr">
                      <a:solidFill>
                        <a:srgbClr val="4E5862"/>
                      </a:solidFill>
                      <a:prstDash val="solid"/>
                      <a:round/>
                      <a:headEnd type="none" w="med" len="med"/>
                      <a:tailEnd type="none" w="med" len="med"/>
                    </a:lnT>
                    <a:lnB w="12700" cap="flat" cmpd="sng" algn="ctr">
                      <a:solidFill>
                        <a:srgbClr val="4E5862"/>
                      </a:solidFill>
                      <a:prstDash val="solid"/>
                      <a:round/>
                      <a:headEnd type="none" w="med" len="med"/>
                      <a:tailEnd type="none" w="med" len="med"/>
                    </a:lnB>
                  </a:tcPr>
                </a:tc>
                <a:tc>
                  <a:txBody>
                    <a:bodyPr/>
                    <a:lstStyle/>
                    <a:p>
                      <a:pPr marL="0" indent="0">
                        <a:lnSpc>
                          <a:spcPts val="1890"/>
                        </a:lnSpc>
                        <a:buNone/>
                      </a:pPr>
                      <a:r>
                        <a:rPr lang="en-US" sz="1350" dirty="0">
                          <a:solidFill>
                            <a:srgbClr val="F7F8F6"/>
                          </a:solidFill>
                          <a:latin typeface="IBM Plex Sans" pitchFamily="34" charset="0"/>
                          <a:ea typeface="IBM Plex Sans" pitchFamily="34" charset="-122"/>
                          <a:cs typeface="IBM Plex Sans" pitchFamily="34" charset="-120"/>
                        </a:rPr>
                        <a:t>8,6 A</a:t>
                      </a:r>
                      <a:endParaRPr lang="en-US" sz="1350" dirty="0">
                        <a:latin typeface="IBM Plex Sans" charset="0"/>
                        <a:ea typeface="IBM Plex Sans" charset="0"/>
                        <a:cs typeface="IBM Plex Sans" charset="0"/>
                      </a:endParaRPr>
                    </a:p>
                  </a:txBody>
                  <a:tcPr marL="76200" marR="76200" marT="76200" marB="76200">
                    <a:lnL w="12700" cap="flat" cmpd="sng" algn="ctr">
                      <a:solidFill>
                        <a:srgbClr val="4E5862"/>
                      </a:solidFill>
                      <a:prstDash val="solid"/>
                      <a:round/>
                      <a:headEnd type="none" w="med" len="med"/>
                      <a:tailEnd type="none" w="med" len="med"/>
                    </a:lnL>
                    <a:lnR w="12700" cap="flat" cmpd="sng" algn="ctr">
                      <a:solidFill>
                        <a:srgbClr val="4E5862"/>
                      </a:solidFill>
                      <a:prstDash val="solid"/>
                      <a:round/>
                      <a:headEnd type="none" w="med" len="med"/>
                      <a:tailEnd type="none" w="med" len="med"/>
                    </a:lnR>
                    <a:lnT w="12700" cap="flat" cmpd="sng" algn="ctr">
                      <a:solidFill>
                        <a:srgbClr val="4E5862"/>
                      </a:solidFill>
                      <a:prstDash val="solid"/>
                      <a:round/>
                      <a:headEnd type="none" w="med" len="med"/>
                      <a:tailEnd type="none" w="med" len="med"/>
                    </a:lnT>
                    <a:lnB w="12700" cap="flat" cmpd="sng" algn="ctr">
                      <a:solidFill>
                        <a:srgbClr val="4E586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3" name="Text 10"/>
          <p:cNvSpPr/>
          <p:nvPr/>
        </p:nvSpPr>
        <p:spPr>
          <a:xfrm>
            <a:off x="812800" y="6238280"/>
            <a:ext cx="77933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0"/>
                </a:solidFill>
                <a:latin typeface="IBM Plex Sans" pitchFamily="34" charset="0"/>
                <a:ea typeface="IBM Plex Sans" pitchFamily="34" charset="-122"/>
                <a:cs typeface="IBM Plex Sans" pitchFamily="34" charset="-120"/>
              </a:rPr>
              <a:t>In der ersten Version war die Schiene </a:t>
            </a:r>
            <a:r>
              <a:rPr lang="en-US" sz="1200" dirty="0" err="1">
                <a:solidFill>
                  <a:srgbClr val="8FA3B0"/>
                </a:solidFill>
                <a:latin typeface="IBM Plex Sans" pitchFamily="34" charset="0"/>
                <a:ea typeface="IBM Plex Sans" pitchFamily="34" charset="-122"/>
                <a:cs typeface="IBM Plex Sans" pitchFamily="34" charset="-120"/>
              </a:rPr>
              <a:t>zu</a:t>
            </a:r>
            <a:r>
              <a:rPr lang="en-US" sz="1200" dirty="0">
                <a:solidFill>
                  <a:srgbClr val="8FA3B0"/>
                </a:solidFill>
                <a:latin typeface="IBM Plex Sans" pitchFamily="34" charset="0"/>
                <a:ea typeface="IBM Plex Sans" pitchFamily="34" charset="-122"/>
                <a:cs typeface="IBM Plex Sans" pitchFamily="34" charset="-120"/>
              </a:rPr>
              <a:t> </a:t>
            </a:r>
            <a:r>
              <a:rPr lang="en-US" sz="1200" dirty="0" err="1">
                <a:solidFill>
                  <a:srgbClr val="8FA3B0"/>
                </a:solidFill>
                <a:latin typeface="IBM Plex Sans" pitchFamily="34" charset="0"/>
                <a:ea typeface="IBM Plex Sans" pitchFamily="34" charset="-122"/>
                <a:cs typeface="IBM Plex Sans" pitchFamily="34" charset="-120"/>
              </a:rPr>
              <a:t>schmal</a:t>
            </a:r>
            <a:r>
              <a:rPr lang="en-US" sz="1200" dirty="0">
                <a:solidFill>
                  <a:srgbClr val="8FA3B0"/>
                </a:solidFill>
                <a:latin typeface="IBM Plex Sans" pitchFamily="34" charset="0"/>
                <a:ea typeface="IBM Plex Sans" pitchFamily="34" charset="-122"/>
                <a:cs typeface="IBM Plex Sans" pitchFamily="34" charset="-120"/>
              </a:rPr>
              <a:t>, die Rechnung kam nachträglich, nicht vorher</a:t>
            </a:r>
            <a:endParaRPr lang="en-US" sz="1200" dirty="0"/>
          </a:p>
        </p:txBody>
      </p:sp>
      <p:pic>
        <p:nvPicPr>
          <p:cNvPr id="17" name="Grafik 16">
            <a:extLst>
              <a:ext uri="{FF2B5EF4-FFF2-40B4-BE49-F238E27FC236}">
                <a16:creationId xmlns:a16="http://schemas.microsoft.com/office/drawing/2014/main" id="{46CB8E02-876B-EF0C-6BC7-B37A75504543}"/>
              </a:ext>
            </a:extLst>
          </p:cNvPr>
          <p:cNvPicPr>
            <a:picLocks noChangeAspect="1"/>
          </p:cNvPicPr>
          <p:nvPr/>
        </p:nvPicPr>
        <p:blipFill>
          <a:blip r:embed="rId3"/>
          <a:stretch>
            <a:fillRect/>
          </a:stretch>
        </p:blipFill>
        <p:spPr>
          <a:xfrm rot="5400000">
            <a:off x="2220248" y="853388"/>
            <a:ext cx="2214303" cy="3523837"/>
          </a:xfrm>
          <a:prstGeom prst="rect">
            <a:avLst/>
          </a:prstGeom>
        </p:spPr>
      </p:pic>
      <p:pic>
        <p:nvPicPr>
          <p:cNvPr id="18" name="Grafik 17">
            <a:extLst>
              <a:ext uri="{FF2B5EF4-FFF2-40B4-BE49-F238E27FC236}">
                <a16:creationId xmlns:a16="http://schemas.microsoft.com/office/drawing/2014/main" id="{68C824DB-E56B-3A60-DD6B-54140BE7D9C4}"/>
              </a:ext>
            </a:extLst>
          </p:cNvPr>
          <p:cNvPicPr>
            <a:picLocks noChangeAspect="1"/>
          </p:cNvPicPr>
          <p:nvPr/>
        </p:nvPicPr>
        <p:blipFill>
          <a:blip r:embed="rId4"/>
          <a:srcRect l="5965" t="7287" r="6746" b="10416"/>
          <a:stretch>
            <a:fillRect/>
          </a:stretch>
        </p:blipFill>
        <p:spPr>
          <a:xfrm>
            <a:off x="7315200" y="1508155"/>
            <a:ext cx="3132137" cy="22147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11931"/>
          </a:xfrm>
          <a:prstGeom prst="rect">
            <a:avLst/>
          </a:prstGeom>
          <a:noFill/>
          <a:ln/>
        </p:spPr>
        <p:txBody>
          <a:bodyPr wrap="square" lIns="0" tIns="0" rIns="0" bIns="0" rtlCol="0" anchor="t">
            <a:normAutofit/>
          </a:bodyPr>
          <a:lstStyle/>
          <a:p>
            <a:pPr marL="0" indent="0" algn="l">
              <a:lnSpc>
                <a:spcPts val="1473"/>
              </a:lnSpc>
              <a:buNone/>
            </a:pPr>
            <a:r>
              <a:rPr lang="en-US" sz="1052" kern="0" spc="150" dirty="0">
                <a:solidFill>
                  <a:srgbClr val="E07A3F"/>
                </a:solidFill>
                <a:latin typeface="JetBrains Mono" pitchFamily="49" charset="0"/>
                <a:ea typeface="JetBrains Mono" pitchFamily="49" charset="-122"/>
                <a:cs typeface="JetBrains Mono" pitchFamily="49" charset="-120"/>
              </a:rPr>
              <a:t>ERGEBNIS UND AUSBLICK</a:t>
            </a:r>
            <a:endParaRPr lang="en-US" sz="1052" dirty="0"/>
          </a:p>
        </p:txBody>
      </p:sp>
      <p:sp>
        <p:nvSpPr>
          <p:cNvPr id="3" name="Text 1"/>
          <p:cNvSpPr>
            <a:spLocks noGrp="1"/>
          </p:cNvSpPr>
          <p:nvPr>
            <p:ph type="title"/>
          </p:nvPr>
        </p:nvSpPr>
        <p:spPr>
          <a:xfrm>
            <a:off x="812800" y="872331"/>
            <a:ext cx="10883392" cy="329902"/>
          </a:xfrm>
          <a:prstGeom prst="rect">
            <a:avLst/>
          </a:prstGeom>
          <a:noFill/>
          <a:ln/>
        </p:spPr>
        <p:txBody>
          <a:bodyPr wrap="square" lIns="0" tIns="0" rIns="0" bIns="0" rtlCol="0" anchor="t">
            <a:normAutofit/>
          </a:bodyPr>
          <a:lstStyle/>
          <a:p>
            <a:pPr marL="0" indent="0" algn="l">
              <a:lnSpc>
                <a:spcPts val="2422"/>
              </a:lnSpc>
              <a:buNone/>
            </a:pPr>
            <a:r>
              <a:rPr lang="en-US" sz="2202" b="1" i="0" dirty="0">
                <a:solidFill>
                  <a:srgbClr val="F7F8F6"/>
                </a:solidFill>
                <a:latin typeface="IBM Plex Sans" pitchFamily="34" charset="0"/>
                <a:ea typeface="IBM Plex Sans" pitchFamily="34" charset="-122"/>
                <a:cs typeface="IBM Plex Sans" pitchFamily="34" charset="-120"/>
              </a:rPr>
              <a:t>Was steht, was offen ist</a:t>
            </a:r>
            <a:endParaRPr lang="en-US" sz="2202" dirty="0"/>
          </a:p>
        </p:txBody>
      </p:sp>
      <p:graphicFrame>
        <p:nvGraphicFramePr>
          <p:cNvPr id="4" name="Table 0"/>
          <p:cNvGraphicFramePr>
            <a:graphicFrameLocks noGrp="1"/>
          </p:cNvGraphicFramePr>
          <p:nvPr>
            <p:extLst>
              <p:ext uri="{D42A27DB-BD31-4B8C-83A1-F6EECF244321}">
                <p14:modId xmlns:p14="http://schemas.microsoft.com/office/powerpoint/2010/main" val="2592175089"/>
              </p:ext>
            </p:extLst>
          </p:nvPr>
        </p:nvGraphicFramePr>
        <p:xfrm>
          <a:off x="825500" y="1418134"/>
          <a:ext cx="10553700" cy="2672360"/>
        </p:xfrm>
        <a:graphic>
          <a:graphicData uri="http://schemas.openxmlformats.org/drawingml/2006/table">
            <a:tbl>
              <a:tblPr/>
              <a:tblGrid>
                <a:gridCol w="3799332">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4854702">
                  <a:extLst>
                    <a:ext uri="{9D8B030D-6E8A-4147-A177-3AD203B41FA5}">
                      <a16:colId xmlns:a16="http://schemas.microsoft.com/office/drawing/2014/main" val="20002"/>
                    </a:ext>
                  </a:extLst>
                </a:gridCol>
              </a:tblGrid>
              <a:tr h="381695">
                <a:tc>
                  <a:txBody>
                    <a:bodyPr/>
                    <a:lstStyle/>
                    <a:p>
                      <a:pPr marL="0" indent="0">
                        <a:lnSpc>
                          <a:spcPts val="1506"/>
                        </a:lnSpc>
                        <a:buNone/>
                      </a:pPr>
                      <a:r>
                        <a:rPr lang="en-US" sz="1076" b="1" dirty="0">
                          <a:solidFill>
                            <a:srgbClr val="8FA3B0"/>
                          </a:solidFill>
                          <a:latin typeface="IBM Plex Sans" pitchFamily="34" charset="0"/>
                          <a:ea typeface="IBM Plex Sans" pitchFamily="34" charset="-122"/>
                          <a:cs typeface="IBM Plex Sans" pitchFamily="34" charset="-120"/>
                        </a:rPr>
                        <a:t>Anforderung</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555D64"/>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555D64"/>
                      </a:solidFill>
                      <a:prstDash val="solid"/>
                      <a:round/>
                      <a:headEnd type="none" w="med" len="med"/>
                      <a:tailEnd type="none" w="med" len="med"/>
                    </a:lnB>
                    <a:solidFill>
                      <a:srgbClr val="27313B"/>
                    </a:solidFill>
                  </a:tcPr>
                </a:tc>
                <a:tc>
                  <a:txBody>
                    <a:bodyPr/>
                    <a:lstStyle/>
                    <a:p>
                      <a:pPr marL="0" indent="0">
                        <a:lnSpc>
                          <a:spcPts val="1506"/>
                        </a:lnSpc>
                        <a:buNone/>
                      </a:pPr>
                      <a:r>
                        <a:rPr lang="en-US" sz="1076" b="1" dirty="0">
                          <a:solidFill>
                            <a:srgbClr val="8FA3B0"/>
                          </a:solidFill>
                          <a:latin typeface="IBM Plex Sans" pitchFamily="34" charset="0"/>
                          <a:ea typeface="IBM Plex Sans" pitchFamily="34" charset="-122"/>
                          <a:cs typeface="IBM Plex Sans" pitchFamily="34" charset="-120"/>
                        </a:rPr>
                        <a:t>Stand</a:t>
                      </a:r>
                      <a:endParaRPr lang="en-US" sz="1076" dirty="0">
                        <a:latin typeface="IBM Plex Sans" charset="0"/>
                        <a:ea typeface="IBM Plex Sans" charset="0"/>
                        <a:cs typeface="IBM Plex Sans" charset="0"/>
                      </a:endParaRPr>
                    </a:p>
                  </a:txBody>
                  <a:tcPr marL="88900" marR="88900" marT="88900" marB="88900">
                    <a:lnL w="12700" cap="flat" cmpd="sng" algn="ctr">
                      <a:solidFill>
                        <a:srgbClr val="555D64"/>
                      </a:solidFill>
                      <a:prstDash val="solid"/>
                      <a:round/>
                      <a:headEnd type="none" w="med" len="med"/>
                      <a:tailEnd type="none" w="med" len="med"/>
                    </a:lnL>
                    <a:lnR w="12700" cap="flat" cmpd="sng" algn="ctr">
                      <a:solidFill>
                        <a:srgbClr val="555D64"/>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555D64"/>
                      </a:solidFill>
                      <a:prstDash val="solid"/>
                      <a:round/>
                      <a:headEnd type="none" w="med" len="med"/>
                      <a:tailEnd type="none" w="med" len="med"/>
                    </a:lnB>
                    <a:solidFill>
                      <a:srgbClr val="27313B"/>
                    </a:solidFill>
                  </a:tcPr>
                </a:tc>
                <a:tc>
                  <a:txBody>
                    <a:bodyPr/>
                    <a:lstStyle/>
                    <a:p>
                      <a:pPr marL="0" indent="0">
                        <a:lnSpc>
                          <a:spcPts val="1506"/>
                        </a:lnSpc>
                        <a:buNone/>
                      </a:pPr>
                      <a:r>
                        <a:rPr lang="en-US" sz="1076" b="1" dirty="0">
                          <a:solidFill>
                            <a:srgbClr val="8FA3B0"/>
                          </a:solidFill>
                          <a:latin typeface="IBM Plex Sans" pitchFamily="34" charset="0"/>
                          <a:ea typeface="IBM Plex Sans" pitchFamily="34" charset="-122"/>
                          <a:cs typeface="IBM Plex Sans" pitchFamily="34" charset="-120"/>
                        </a:rPr>
                        <a:t>Belegt durch</a:t>
                      </a:r>
                      <a:endParaRPr lang="en-US" sz="1076" dirty="0">
                        <a:latin typeface="IBM Plex Sans" charset="0"/>
                        <a:ea typeface="IBM Plex Sans" charset="0"/>
                        <a:cs typeface="IBM Plex Sans" charset="0"/>
                      </a:endParaRPr>
                    </a:p>
                  </a:txBody>
                  <a:tcPr marL="88900" marR="88900" marT="88900" marB="88900">
                    <a:lnL w="12700" cap="flat" cmpd="sng" algn="ctr">
                      <a:solidFill>
                        <a:srgbClr val="555D64"/>
                      </a:solidFill>
                      <a:prstDash val="solid"/>
                      <a:round/>
                      <a:headEnd type="none" w="med" len="med"/>
                      <a:tailEnd type="none" w="med" len="med"/>
                    </a:lnL>
                    <a:lnR w="12700" cap="flat" cmpd="sng" algn="ctr">
                      <a:solidFill>
                        <a:srgbClr val="555D64"/>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555D64"/>
                      </a:solidFill>
                      <a:prstDash val="solid"/>
                      <a:round/>
                      <a:headEnd type="none" w="med" len="med"/>
                      <a:tailEnd type="none" w="med" len="med"/>
                    </a:lnB>
                    <a:solidFill>
                      <a:srgbClr val="27313B"/>
                    </a:solidFill>
                  </a:tcPr>
                </a:tc>
                <a:extLst>
                  <a:ext uri="{0D108BD9-81ED-4DB2-BD59-A6C34878D82A}">
                    <a16:rowId xmlns:a16="http://schemas.microsoft.com/office/drawing/2014/main" val="10000"/>
                  </a:ext>
                </a:extLst>
              </a:tr>
              <a:tr h="381695">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Treiber einzeln tauschbar</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555D64"/>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erfüllt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555D64"/>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Zwei Treiber getauscht, Board unverändert in Betrieb</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555D64"/>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extLst>
                  <a:ext uri="{0D108BD9-81ED-4DB2-BD59-A6C34878D82A}">
                    <a16:rowId xmlns:a16="http://schemas.microsoft.com/office/drawing/2014/main" val="10001"/>
                  </a:ext>
                </a:extLst>
              </a:tr>
              <a:tr h="381794">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Einstellungen im Betrieb änderbar</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erfüllt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Betriebsmodus im laufenden Projekt umgestellt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extLst>
                  <a:ext uri="{0D108BD9-81ED-4DB2-BD59-A6C34878D82A}">
                    <a16:rowId xmlns:a16="http://schemas.microsoft.com/office/drawing/2014/main" val="10002"/>
                  </a:ext>
                </a:extLst>
              </a:tr>
              <a:tr h="381794">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Steuerung erweiterbar</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erfüllt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8 Steckplätze, zweiter Extruder elektrisch vorgesehen</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extLst>
                  <a:ext uri="{0D108BD9-81ED-4DB2-BD59-A6C34878D82A}">
                    <a16:rowId xmlns:a16="http://schemas.microsoft.com/office/drawing/2014/main" val="10003"/>
                  </a:ext>
                </a:extLst>
              </a:tr>
              <a:tr h="381794">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Beheiztes Druckbett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erfüllt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Heizkreis in Betrieb, Regelung über eigenen MOSFET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extLst>
                  <a:ext uri="{0D108BD9-81ED-4DB2-BD59-A6C34878D82A}">
                    <a16:rowId xmlns:a16="http://schemas.microsoft.com/office/drawing/2014/main" val="10004"/>
                  </a:ext>
                </a:extLst>
              </a:tr>
              <a:tr h="381794">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Druckbetrieb mit Kalibrierung</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erfüllt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Messreihe abgeschlossen, Werte in der Konfiguration</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tcPr>
                </a:tc>
                <a:extLst>
                  <a:ext uri="{0D108BD9-81ED-4DB2-BD59-A6C34878D82A}">
                    <a16:rowId xmlns:a16="http://schemas.microsoft.com/office/drawing/2014/main" val="10005"/>
                  </a:ext>
                </a:extLst>
              </a:tr>
              <a:tr h="381794">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Zweiter Werkzeugkopf</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solidFill>
                      <a:srgbClr val="243441"/>
                    </a:solidFill>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in Arbeit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solidFill>
                      <a:srgbClr val="243441"/>
                    </a:solidFill>
                  </a:tcPr>
                </a:tc>
                <a:tc>
                  <a:txBody>
                    <a:bodyPr/>
                    <a:lstStyle/>
                    <a:p>
                      <a:pPr marL="0" indent="0">
                        <a:lnSpc>
                          <a:spcPts val="1506"/>
                        </a:lnSpc>
                        <a:buNone/>
                      </a:pPr>
                      <a:r>
                        <a:rPr lang="en-US" sz="1076" dirty="0">
                          <a:solidFill>
                            <a:srgbClr val="F7F8F6"/>
                          </a:solidFill>
                          <a:latin typeface="IBM Plex Sans" pitchFamily="34" charset="0"/>
                          <a:ea typeface="IBM Plex Sans" pitchFamily="34" charset="-122"/>
                          <a:cs typeface="IBM Plex Sans" pitchFamily="34" charset="-120"/>
                        </a:rPr>
                        <a:t>Mechanik vorhanden, Wechselvorgang nicht erprobt</a:t>
                      </a:r>
                      <a:endParaRPr lang="en-US" sz="1076" dirty="0">
                        <a:latin typeface="IBM Plex Sans" charset="0"/>
                        <a:ea typeface="IBM Plex Sans" charset="0"/>
                        <a:cs typeface="IBM Plex Sans" charset="0"/>
                      </a:endParaRPr>
                    </a:p>
                  </a:txBody>
                  <a:tcPr marL="88900" marR="88900" marT="88900" marB="88900">
                    <a:lnL w="12700" cap="flat" cmpd="sng" algn="ctr">
                      <a:solidFill>
                        <a:srgbClr val="475057"/>
                      </a:solidFill>
                      <a:prstDash val="solid"/>
                      <a:round/>
                      <a:headEnd type="none" w="med" len="med"/>
                      <a:tailEnd type="none" w="med" len="med"/>
                    </a:lnL>
                    <a:lnR w="12700" cap="flat" cmpd="sng" algn="ctr">
                      <a:solidFill>
                        <a:srgbClr val="475057"/>
                      </a:solidFill>
                      <a:prstDash val="solid"/>
                      <a:round/>
                      <a:headEnd type="none" w="med" len="med"/>
                      <a:tailEnd type="none" w="med" len="med"/>
                    </a:lnR>
                    <a:lnT w="12700" cap="flat" cmpd="sng" algn="ctr">
                      <a:solidFill>
                        <a:srgbClr val="475057"/>
                      </a:solidFill>
                      <a:prstDash val="solid"/>
                      <a:round/>
                      <a:headEnd type="none" w="med" len="med"/>
                      <a:tailEnd type="none" w="med" len="med"/>
                    </a:lnT>
                    <a:lnB w="12700" cap="flat" cmpd="sng" algn="ctr">
                      <a:solidFill>
                        <a:srgbClr val="475057"/>
                      </a:solidFill>
                      <a:prstDash val="solid"/>
                      <a:round/>
                      <a:headEnd type="none" w="med" len="med"/>
                      <a:tailEnd type="none" w="med" len="med"/>
                    </a:lnB>
                    <a:solidFill>
                      <a:srgbClr val="243441"/>
                    </a:solidFill>
                  </a:tcPr>
                </a:tc>
                <a:extLst>
                  <a:ext uri="{0D108BD9-81ED-4DB2-BD59-A6C34878D82A}">
                    <a16:rowId xmlns:a16="http://schemas.microsoft.com/office/drawing/2014/main" val="10007"/>
                  </a:ext>
                </a:extLst>
              </a:tr>
            </a:tbl>
          </a:graphicData>
        </a:graphic>
      </p:graphicFrame>
      <p:sp>
        <p:nvSpPr>
          <p:cNvPr id="5" name="Shape 2"/>
          <p:cNvSpPr/>
          <p:nvPr/>
        </p:nvSpPr>
        <p:spPr>
          <a:xfrm>
            <a:off x="812800" y="4700885"/>
            <a:ext cx="5194300" cy="1141115"/>
          </a:xfrm>
          <a:prstGeom prst="roundRect">
            <a:avLst>
              <a:gd name="adj" fmla="val 6678"/>
            </a:avLst>
          </a:prstGeom>
          <a:solidFill>
            <a:srgbClr val="1D2B38"/>
          </a:solidFill>
          <a:ln/>
        </p:spPr>
        <p:txBody>
          <a:bodyPr/>
          <a:lstStyle/>
          <a:p>
            <a:endParaRPr lang="en-US"/>
          </a:p>
        </p:txBody>
      </p:sp>
      <p:sp>
        <p:nvSpPr>
          <p:cNvPr id="6" name="Text 3"/>
          <p:cNvSpPr/>
          <p:nvPr/>
        </p:nvSpPr>
        <p:spPr>
          <a:xfrm>
            <a:off x="1016000" y="4904085"/>
            <a:ext cx="4931537" cy="183356"/>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F7F8F6"/>
                </a:solidFill>
                <a:latin typeface="IBM Plex Sans" pitchFamily="34" charset="0"/>
                <a:ea typeface="IBM Plex Sans" pitchFamily="34" charset="-122"/>
                <a:cs typeface="IBM Plex Sans" pitchFamily="34" charset="-120"/>
              </a:rPr>
              <a:t>Nächste Revision, aus demselben Grundsatz</a:t>
            </a:r>
            <a:endParaRPr lang="en-US" sz="1059" dirty="0"/>
          </a:p>
        </p:txBody>
      </p:sp>
      <p:sp>
        <p:nvSpPr>
          <p:cNvPr id="7" name="Text 4"/>
          <p:cNvSpPr/>
          <p:nvPr/>
        </p:nvSpPr>
        <p:spPr>
          <a:xfrm>
            <a:off x="1016000" y="5125541"/>
            <a:ext cx="4931537" cy="538659"/>
          </a:xfrm>
          <a:prstGeom prst="rect">
            <a:avLst/>
          </a:prstGeom>
          <a:noFill/>
          <a:ln/>
        </p:spPr>
        <p:txBody>
          <a:bodyPr wrap="square" lIns="0" tIns="0" rIns="0" bIns="0" rtlCol="0" anchor="t">
            <a:normAutofit/>
          </a:bodyPr>
          <a:lstStyle/>
          <a:p>
            <a:pPr marL="0" indent="0" algn="l">
              <a:lnSpc>
                <a:spcPts val="1354"/>
              </a:lnSpc>
              <a:buNone/>
            </a:pPr>
            <a:r>
              <a:rPr lang="en-US" sz="967" dirty="0">
                <a:solidFill>
                  <a:srgbClr val="BFD8D5"/>
                </a:solidFill>
                <a:latin typeface="IBM Plex Sans" pitchFamily="34" charset="0"/>
                <a:ea typeface="IBM Plex Sans" pitchFamily="34" charset="-122"/>
                <a:cs typeface="IBM Plex Sans" pitchFamily="34" charset="-120"/>
              </a:rPr>
              <a:t>Verpolschutz am 24-V-Eingang · mehr PWM-Lüfterkanäle · breitere 24-V-Schiene oder 70 µm Kupfer · Kupferfläche unter dem Treiber-IC · Mikrocontroller direkt auf der Platine</a:t>
            </a:r>
            <a:endParaRPr lang="en-US" sz="967" dirty="0"/>
          </a:p>
        </p:txBody>
      </p:sp>
      <p:sp>
        <p:nvSpPr>
          <p:cNvPr id="8" name="Shape 5"/>
          <p:cNvSpPr/>
          <p:nvPr/>
        </p:nvSpPr>
        <p:spPr>
          <a:xfrm>
            <a:off x="6184900" y="4700885"/>
            <a:ext cx="5194300" cy="1141115"/>
          </a:xfrm>
          <a:prstGeom prst="roundRect">
            <a:avLst>
              <a:gd name="adj" fmla="val 6678"/>
            </a:avLst>
          </a:prstGeom>
          <a:solidFill>
            <a:srgbClr val="E07A3F"/>
          </a:solidFill>
          <a:ln/>
        </p:spPr>
        <p:txBody>
          <a:bodyPr/>
          <a:lstStyle/>
          <a:p>
            <a:endParaRPr lang="en-US"/>
          </a:p>
        </p:txBody>
      </p:sp>
      <p:sp>
        <p:nvSpPr>
          <p:cNvPr id="9" name="Text 6"/>
          <p:cNvSpPr/>
          <p:nvPr/>
        </p:nvSpPr>
        <p:spPr>
          <a:xfrm>
            <a:off x="6388100" y="4904085"/>
            <a:ext cx="4931537" cy="183356"/>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5202B"/>
                </a:solidFill>
                <a:latin typeface="IBM Plex Sans" pitchFamily="34" charset="0"/>
                <a:ea typeface="IBM Plex Sans" pitchFamily="34" charset="-122"/>
                <a:cs typeface="IBM Plex Sans" pitchFamily="34" charset="-120"/>
              </a:rPr>
              <a:t>Der nächste Schritt wäre CAN-Bus</a:t>
            </a:r>
            <a:endParaRPr lang="en-US" sz="1059" dirty="0"/>
          </a:p>
        </p:txBody>
      </p:sp>
      <p:sp>
        <p:nvSpPr>
          <p:cNvPr id="10" name="Text 7"/>
          <p:cNvSpPr/>
          <p:nvPr/>
        </p:nvSpPr>
        <p:spPr>
          <a:xfrm>
            <a:off x="6388100" y="5125541"/>
            <a:ext cx="4931537" cy="538659"/>
          </a:xfrm>
          <a:prstGeom prst="rect">
            <a:avLst/>
          </a:prstGeom>
          <a:noFill/>
          <a:ln/>
        </p:spPr>
        <p:txBody>
          <a:bodyPr wrap="square" lIns="0" tIns="0" rIns="0" bIns="0" rtlCol="0" anchor="t">
            <a:normAutofit/>
          </a:bodyPr>
          <a:lstStyle/>
          <a:p>
            <a:pPr marL="0" indent="0" algn="l">
              <a:lnSpc>
                <a:spcPts val="1513"/>
              </a:lnSpc>
              <a:buNone/>
            </a:pPr>
            <a:r>
              <a:rPr lang="en-US" sz="1081" dirty="0">
                <a:solidFill>
                  <a:srgbClr val="15202B"/>
                </a:solidFill>
                <a:latin typeface="IBM Plex Sans" pitchFamily="34" charset="0"/>
                <a:ea typeface="IBM Plex Sans" pitchFamily="34" charset="-122"/>
                <a:cs typeface="IBM Plex Sans" pitchFamily="34" charset="-120"/>
              </a:rPr>
              <a:t>Dieselbe Überlegung wie beim UART-Bus, eine Ebene höher: ein Kabel zum Werkzeugkopf statt </a:t>
            </a:r>
            <a:r>
              <a:rPr lang="en-US" sz="1081" dirty="0" err="1">
                <a:solidFill>
                  <a:srgbClr val="15202B"/>
                </a:solidFill>
                <a:latin typeface="IBM Plex Sans" pitchFamily="34" charset="0"/>
                <a:ea typeface="IBM Plex Sans" pitchFamily="34" charset="-122"/>
                <a:cs typeface="IBM Plex Sans" pitchFamily="34" charset="-120"/>
              </a:rPr>
              <a:t>eines</a:t>
            </a:r>
            <a:r>
              <a:rPr lang="en-US" sz="1081" dirty="0">
                <a:solidFill>
                  <a:srgbClr val="15202B"/>
                </a:solidFill>
                <a:latin typeface="IBM Plex Sans" pitchFamily="34" charset="0"/>
                <a:ea typeface="IBM Plex Sans" pitchFamily="34" charset="-122"/>
                <a:cs typeface="IBM Plex Sans" pitchFamily="34" charset="-120"/>
              </a:rPr>
              <a:t> </a:t>
            </a:r>
            <a:r>
              <a:rPr lang="en-US" sz="1081" dirty="0" err="1">
                <a:solidFill>
                  <a:srgbClr val="15202B"/>
                </a:solidFill>
                <a:latin typeface="IBM Plex Sans" pitchFamily="34" charset="0"/>
                <a:ea typeface="IBM Plex Sans" pitchFamily="34" charset="-122"/>
                <a:cs typeface="IBM Plex Sans" pitchFamily="34" charset="-120"/>
              </a:rPr>
              <a:t>Bündels</a:t>
            </a:r>
            <a:r>
              <a:rPr lang="en-US" sz="1081" dirty="0">
                <a:solidFill>
                  <a:srgbClr val="15202B"/>
                </a:solidFill>
                <a:latin typeface="IBM Plex Sans" pitchFamily="34" charset="0"/>
                <a:ea typeface="IBM Plex Sans" pitchFamily="34" charset="-122"/>
                <a:cs typeface="IBM Plex Sans" pitchFamily="34" charset="-120"/>
              </a:rPr>
              <a:t> und ein Toolhead, der sich selbst meldet.</a:t>
            </a:r>
            <a:endParaRPr lang="en-US" sz="1081" dirty="0"/>
          </a:p>
        </p:txBody>
      </p:sp>
      <p:sp>
        <p:nvSpPr>
          <p:cNvPr id="11" name="Text 8"/>
          <p:cNvSpPr/>
          <p:nvPr/>
        </p:nvSpPr>
        <p:spPr>
          <a:xfrm>
            <a:off x="812800" y="6238280"/>
            <a:ext cx="2986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0"/>
                </a:solidFill>
                <a:latin typeface="IBM Plex Sans" pitchFamily="34" charset="0"/>
                <a:ea typeface="IBM Plex Sans" pitchFamily="34" charset="-122"/>
                <a:cs typeface="IBM Plex Sans" pitchFamily="34" charset="-120"/>
              </a:rPr>
              <a:t>FlexPrint 3D-Drucker · Fabio Pachler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1590873"/>
            <a:ext cx="5677154"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E07A3F"/>
                </a:solidFill>
                <a:latin typeface="JetBrains Mono" pitchFamily="49" charset="0"/>
                <a:ea typeface="JetBrains Mono" pitchFamily="49" charset="-122"/>
                <a:cs typeface="JetBrains Mono" pitchFamily="49" charset="-120"/>
              </a:rPr>
              <a:t>DANKE FÜR IHRE AUFMERKSAMKEIT</a:t>
            </a:r>
            <a:endParaRPr lang="en-US" sz="1300" dirty="0"/>
          </a:p>
        </p:txBody>
      </p:sp>
      <p:pic>
        <p:nvPicPr>
          <p:cNvPr id="4" name="Image 0" descr="line"/>
          <p:cNvPicPr>
            <a:picLocks noChangeAspect="1"/>
          </p:cNvPicPr>
          <p:nvPr/>
        </p:nvPicPr>
        <p:blipFill>
          <a:blip r:embed="rId3"/>
          <a:srcRect/>
          <a:stretch/>
        </p:blipFill>
        <p:spPr>
          <a:xfrm>
            <a:off x="812800" y="1847353"/>
            <a:ext cx="1270000" cy="12700"/>
          </a:xfrm>
          <a:prstGeom prst="rect">
            <a:avLst/>
          </a:prstGeom>
        </p:spPr>
      </p:pic>
      <p:sp>
        <p:nvSpPr>
          <p:cNvPr id="6" name="Text 3"/>
          <p:cNvSpPr/>
          <p:nvPr/>
        </p:nvSpPr>
        <p:spPr>
          <a:xfrm>
            <a:off x="812800" y="4733627"/>
            <a:ext cx="5677154"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F8F6"/>
                </a:solidFill>
                <a:latin typeface="IBM Plex Sans" pitchFamily="34" charset="0"/>
                <a:ea typeface="IBM Plex Sans" pitchFamily="34" charset="-122"/>
                <a:cs typeface="IBM Plex Sans" pitchFamily="34" charset="-120"/>
              </a:rPr>
              <a:t>Fabio Pachler</a:t>
            </a:r>
            <a:endParaRPr lang="en-US" sz="1400" dirty="0"/>
          </a:p>
          <a:p>
            <a:pPr marL="0" indent="0" algn="l">
              <a:lnSpc>
                <a:spcPts val="2100"/>
              </a:lnSpc>
              <a:buNone/>
            </a:pPr>
            <a:r>
              <a:rPr lang="en-US" sz="1400" dirty="0">
                <a:solidFill>
                  <a:srgbClr val="8FA3B0"/>
                </a:solidFill>
                <a:latin typeface="IBM Plex Sans" pitchFamily="34" charset="0"/>
                <a:ea typeface="IBM Plex Sans" pitchFamily="34" charset="-122"/>
                <a:cs typeface="IBM Plex Sans" pitchFamily="34" charset="-120"/>
              </a:rPr>
              <a:t>Mainboard und Treiberplatinen · 7ABELI</a:t>
            </a:r>
            <a:endParaRPr lang="en-US" sz="1400" dirty="0"/>
          </a:p>
        </p:txBody>
      </p:sp>
      <p:sp>
        <p:nvSpPr>
          <p:cNvPr id="15" name="Shape 4">
            <a:extLst>
              <a:ext uri="{FF2B5EF4-FFF2-40B4-BE49-F238E27FC236}">
                <a16:creationId xmlns:a16="http://schemas.microsoft.com/office/drawing/2014/main" id="{D2A0FFD4-0E3A-F7CD-22BB-52E85B609B39}"/>
              </a:ext>
            </a:extLst>
          </p:cNvPr>
          <p:cNvSpPr/>
          <p:nvPr/>
        </p:nvSpPr>
        <p:spPr>
          <a:xfrm>
            <a:off x="6553200" y="812800"/>
            <a:ext cx="4826000" cy="5232400"/>
          </a:xfrm>
          <a:prstGeom prst="roundRect">
            <a:avLst>
              <a:gd name="adj" fmla="val 1579"/>
            </a:avLst>
          </a:prstGeom>
          <a:solidFill>
            <a:srgbClr val="1D2B38"/>
          </a:solidFill>
          <a:ln/>
        </p:spPr>
        <p:txBody>
          <a:bodyPr/>
          <a:lstStyle/>
          <a:p>
            <a:endParaRPr lang="en-US"/>
          </a:p>
        </p:txBody>
      </p:sp>
      <p:pic>
        <p:nvPicPr>
          <p:cNvPr id="17" name="Grafik 16">
            <a:extLst>
              <a:ext uri="{FF2B5EF4-FFF2-40B4-BE49-F238E27FC236}">
                <a16:creationId xmlns:a16="http://schemas.microsoft.com/office/drawing/2014/main" id="{3F643557-5F6D-6295-BF58-00F5FF6E66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1576" y="1151710"/>
            <a:ext cx="5309247" cy="4218306"/>
          </a:xfrm>
          <a:prstGeom prst="rect">
            <a:avLst/>
          </a:prstGeom>
        </p:spPr>
      </p:pic>
    </p:spTree>
  </p:cSld>
  <p:clrMapOvr>
    <a:masterClrMapping/>
  </p:clrMapOvr>
</p:sld>
</file>

<file path=ppt/theme/theme1.xml><?xml version="1.0" encoding="utf-8"?>
<a:theme xmlns:a="http://schemas.openxmlformats.org/drawingml/2006/main" name="FlexPrint – Modularität als Leitanforderung">
  <a:themeElements>
    <a:clrScheme name="FlexPrint – Modularität als Leitanforderung">
      <a:dk1>
        <a:srgbClr val="15202B"/>
      </a:dk1>
      <a:lt1>
        <a:srgbClr val="F7F8F6"/>
      </a:lt1>
      <a:dk2>
        <a:srgbClr val="2C363F"/>
      </a:dk2>
      <a:lt2>
        <a:srgbClr val="BFC2C3"/>
      </a:lt2>
      <a:accent1>
        <a:srgbClr val="E07A3F"/>
      </a:accent1>
      <a:accent2>
        <a:srgbClr val="7FB8D8"/>
      </a:accent2>
      <a:accent3>
        <a:srgbClr val="BFD8D5"/>
      </a:accent3>
      <a:accent4>
        <a:srgbClr val="8FA3B0"/>
      </a:accent4>
      <a:accent5>
        <a:srgbClr val="9AA0A6"/>
      </a:accent5>
      <a:accent6>
        <a:srgbClr val="9DA2A5"/>
      </a:accent6>
      <a:hlink>
        <a:srgbClr val="0563C1"/>
      </a:hlink>
      <a:folHlink>
        <a:srgbClr val="954F72"/>
      </a:folHlink>
    </a:clrScheme>
    <a:fontScheme name="FlexPrint – Modularität als Leitanforderu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1943</Words>
  <Application>Microsoft Office PowerPoint</Application>
  <PresentationFormat>Breitbild</PresentationFormat>
  <Paragraphs>166</Paragraphs>
  <Slides>12</Slides>
  <Notes>11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Arial</vt:lpstr>
      <vt:lpstr>IBM Plex Sans</vt:lpstr>
      <vt:lpstr>JetBrains Mono</vt:lpstr>
      <vt:lpstr>FlexPrint – Modularität als Leitanforderung</vt:lpstr>
      <vt:lpstr>FlexPrint 3D-Drucker</vt:lpstr>
      <vt:lpstr>PowerPoint-Präsentation</vt:lpstr>
      <vt:lpstr>PowerPoint-Präsentation</vt:lpstr>
      <vt:lpstr>Die Anforderung, aufgeteilt auf drei Themenbereiche</vt:lpstr>
      <vt:lpstr>Ein TMC2209 pro Achse</vt:lpstr>
      <vt:lpstr>Vier Lagen, weil die Wärme weg muss</vt:lpstr>
      <vt:lpstr>Versorgung, Steuerung, Leistung auf einer Platine</vt:lpstr>
      <vt:lpstr>Versorgung, Steuerung, Leistung auf einer Platine</vt:lpstr>
      <vt:lpstr>Versorgung, Steuerung, Leistung auf einer Platine</vt:lpstr>
      <vt:lpstr>Die 24-V-Schiene trägt alles</vt:lpstr>
      <vt:lpstr>Was steht, was offen ist</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FlexPrint – Modularität als Leitanforderung</dc:title>
  <dc:subject/>
  <dc:creator/>
  <cp:lastModifiedBy>Sprudelwasse r</cp:lastModifiedBy>
  <cp:revision>12</cp:revision>
  <dcterms:created xsi:type="dcterms:W3CDTF">2026-10-11T16:50:42Z</dcterms:created>
  <dcterms:modified xsi:type="dcterms:W3CDTF">2026-10-12T20:49:34Z</dcterms:modified>
</cp:coreProperties>
</file>